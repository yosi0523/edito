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914400" y="5303520"/>
            <a:ext cx="14630400" cy="1097280"/>
          </a:xfrm>
          <a:prstGeom prst="parallelogram">
            <a:avLst>
              <a:gd name="adj" fmla="val 60000"/>
            </a:avLst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66360"/>
            <a:ext cx="12191695" cy="4572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D7E55A"/>
                </a:solidFill>
                <a:latin typeface="Arial"/>
              </a:rPr>
              <a:t>TENNECO INTERNAL SEMINAR —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972800" cy="11887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맑은 고딕"/>
              </a:rPr>
              <a:t>Hyundai Motor Group 프로젝트 현황 및 공략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0" i="0">
                <a:solidFill>
                  <a:srgbClr val="D7E55A"/>
                </a:solidFill>
                <a:latin typeface="Arial"/>
              </a:rPr>
              <a:t>Tenneco × Hyundai : Current Business &amp; Growth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맑은 고딕"/>
              </a:rPr>
              <a:t>글로벌 시장 현황  ·  공급 프로그램  ·  경쟁사 비교  ·  CVSA2 확대  ·  운영 로드맵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Tenneco Korea – Hyundai/Kia Account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D7E55A"/>
                </a:solidFill>
                <a:latin typeface="맑은 고딕"/>
              </a:rPr>
              <a:t>대한민국 · Tenneco 본사 세미나 발표 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097280"/>
            <a:ext cx="2011680" cy="22860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0" b="1" i="0">
                <a:solidFill>
                  <a:srgbClr val="1A6F8C"/>
                </a:solidFill>
                <a:latin typeface="Arial"/>
              </a:rPr>
              <a:t>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D7E55A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맑은 고딕"/>
              </a:rPr>
              <a:t>목 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Hyundai Project</a:t>
            </a:r>
          </a:p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D7E55A"/>
                </a:solidFill>
                <a:latin typeface="Arial"/>
              </a:rPr>
              <a:t>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8686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86868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E4357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822960"/>
            <a:ext cx="685800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E4357"/>
                </a:solidFill>
                <a:latin typeface="맑은 고딕"/>
              </a:rPr>
              <a:t>현대 글로벌 시장 판매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170432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Arial"/>
              </a:rPr>
              <a:t>Hyundai Global Market Share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20640" y="1389888"/>
            <a:ext cx="6766559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9120" y="146304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6304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E4357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1417320"/>
            <a:ext cx="685800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E4357"/>
                </a:solidFill>
                <a:latin typeface="맑은 고딕"/>
              </a:rPr>
              <a:t>현대 북미 및 남미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764792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Arial"/>
              </a:rPr>
              <a:t>Hyundai N.America &amp; S.America Market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20640" y="1984248"/>
            <a:ext cx="6766559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89120" y="20574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05740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E4357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011680"/>
            <a:ext cx="685800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E4357"/>
                </a:solidFill>
                <a:latin typeface="맑은 고딕"/>
              </a:rPr>
              <a:t>현대에서의 Tenneco 점유율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359152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Arial"/>
              </a:rPr>
              <a:t>Tenneco Business Ratio in Hyundai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20640" y="2578608"/>
            <a:ext cx="6766559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89120" y="265176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65176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E4357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606040"/>
            <a:ext cx="685800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E4357"/>
                </a:solidFill>
                <a:latin typeface="맑은 고딕"/>
              </a:rPr>
              <a:t>Tenneco의 현대 공급 프로그램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953512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Arial"/>
              </a:rPr>
              <a:t>Hyundai Supply Program (China · India · Brazil)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20640" y="3172968"/>
            <a:ext cx="6766559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389120" y="32461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324612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E4357"/>
                </a:solidFill>
                <a:latin typeface="Arial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3200400"/>
            <a:ext cx="685800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E4357"/>
                </a:solidFill>
                <a:latin typeface="맑은 고딕"/>
              </a:rPr>
              <a:t>경쟁사 비교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547872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Arial"/>
              </a:rPr>
              <a:t>Competitor Analysis (Mando · ZF · Bilstein)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120640" y="3767328"/>
            <a:ext cx="6766559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389120" y="38404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384048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E4357"/>
                </a:solidFill>
                <a:latin typeface="Arial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3794760"/>
            <a:ext cx="685800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E4357"/>
                </a:solidFill>
                <a:latin typeface="맑은 고딕"/>
              </a:rPr>
              <a:t>CVSA2 프로그램 확대 방안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4142232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Arial"/>
              </a:rPr>
              <a:t>CVSA2 Program &amp; Expansion Plan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120640" y="4361688"/>
            <a:ext cx="6766559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389120" y="443484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0" y="443484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E4357"/>
                </a:solidFill>
                <a:latin typeface="Arial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4389120"/>
            <a:ext cx="685800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E4357"/>
                </a:solidFill>
                <a:latin typeface="맑은 고딕"/>
              </a:rPr>
              <a:t>현대 공략 방법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0" y="4736592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Arial"/>
              </a:rPr>
              <a:t>Hyundai Winning Strategy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120640" y="4956048"/>
            <a:ext cx="6766559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389120" y="50292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0" y="502920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E4357"/>
                </a:solidFill>
                <a:latin typeface="Arial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4983480"/>
            <a:ext cx="685800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E4357"/>
                </a:solidFill>
                <a:latin typeface="맑은 고딕"/>
              </a:rPr>
              <a:t>Tenneco Korea의 단계별 운영 방안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0" y="5330952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Arial"/>
              </a:rPr>
              <a:t>Tenneco Korea Operating Roadmap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120640" y="5550408"/>
            <a:ext cx="6766559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389120" y="562356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0" y="562356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E4357"/>
                </a:solidFill>
                <a:latin typeface="Arial"/>
              </a:rP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5577840"/>
            <a:ext cx="685800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E4357"/>
                </a:solidFill>
                <a:latin typeface="맑은 고딕"/>
              </a:rPr>
              <a:t>Q &amp; 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5925312"/>
            <a:ext cx="68580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Arial"/>
              </a:rPr>
              <a:t>Discussion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65760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0" b="1" i="0">
                <a:solidFill>
                  <a:srgbClr val="D7E55A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37744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맑은 고딕"/>
              </a:rPr>
              <a:t>현대 글로벌 시장 판매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3200400"/>
            <a:ext cx="7315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Hyundai Global Market Share ·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2179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7E55A"/>
                </a:solidFill>
                <a:latin typeface="Arial"/>
              </a:rPr>
              <a:t>TENNECO × HYUNDAI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Arial"/>
              </a:rPr>
              <a:t>— 3 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현대 글로벌 시장 판매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1. Hyundai Global Market Share  |  2025년 기준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" y="1554480"/>
            <a:ext cx="2560320" cy="1188720"/>
          </a:xfrm>
          <a:prstGeom prst="roundRect">
            <a:avLst>
              <a:gd name="adj" fmla="val 10000"/>
            </a:avLst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2025 현대차 글로벌 판매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93392"/>
            <a:ext cx="2560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414만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2560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맑은 고딕"/>
              </a:rPr>
              <a:t>대 (Total Sales)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554480"/>
            <a:ext cx="2560320" cy="1188720"/>
          </a:xfrm>
          <a:prstGeom prst="roundRect">
            <a:avLst>
              <a:gd name="adj" fmla="val 10000"/>
            </a:avLst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169164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최대 판매 지역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1993392"/>
            <a:ext cx="2560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아시아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514600"/>
            <a:ext cx="2560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맑은 고딕"/>
              </a:rPr>
              <a:t>146만 대 (35.3%)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554480"/>
            <a:ext cx="2560320" cy="1188720"/>
          </a:xfrm>
          <a:prstGeom prst="roundRect">
            <a:avLst>
              <a:gd name="adj" fmla="val 10000"/>
            </a:avLst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169164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핵심 전략 시장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1993392"/>
            <a:ext cx="2560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아메리카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514600"/>
            <a:ext cx="2560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맑은 고딕"/>
              </a:rPr>
              <a:t>134만 대 (32.4%)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1554480"/>
            <a:ext cx="2560320" cy="1188720"/>
          </a:xfrm>
          <a:prstGeom prst="roundRect">
            <a:avLst>
              <a:gd name="adj" fmla="val 10000"/>
            </a:avLst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169164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기준 연도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1993392"/>
            <a:ext cx="2560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514600"/>
            <a:ext cx="2560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맑은 고딕"/>
              </a:rPr>
              <a:t>Year of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9260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E4357"/>
                </a:solidFill>
                <a:latin typeface="맑은 고딕"/>
              </a:rPr>
              <a:t>■ 2025년 현대자동차 지역별 판매 현황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57200" y="3337560"/>
          <a:ext cx="685799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6909"/>
                <a:gridCol w="3117272"/>
                <a:gridCol w="1603168"/>
                <a:gridCol w="890649"/>
              </a:tblGrid>
              <a:tr h="426720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지역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주요 국가 및 거점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판매 수량 (추정)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비중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4267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아메리카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미국, 캐나다, 브라질(HMB), 멕시코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134만 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32.4%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아시아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한국(내수), 인도, 베트남, 인도네시아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146만 대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35.3%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4267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유럽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독일, 영국, 프랑스 등 EU 지역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61만 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14.7%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중동, 아프리카, 러시아, 호주 등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73만 대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17.6%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4267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전 세계 시장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414만 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589520" y="2926080"/>
            <a:ext cx="4160520" cy="301752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301752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D7E55A"/>
                </a:solidFill>
                <a:latin typeface="Arial"/>
              </a:rPr>
              <a:t>TENNECO GLOBAL FOOTPRINT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3337560"/>
            <a:ext cx="39319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전 세계 공급 역량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3749039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2200" b="1" i="0">
                <a:solidFill>
                  <a:srgbClr val="D7E55A"/>
                </a:solidFill>
                <a:latin typeface="Arial"/>
              </a:rPr>
              <a:t>60,000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822191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Global Team Members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251959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2200" b="1" i="0">
                <a:solidFill>
                  <a:srgbClr val="D7E55A"/>
                </a:solidFill>
                <a:latin typeface="Arial"/>
              </a:rPr>
              <a:t>184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325111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Manufacturing Plants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754879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2200" b="1" i="0">
                <a:solidFill>
                  <a:srgbClr val="D7E55A"/>
                </a:solidFill>
                <a:latin typeface="Arial"/>
              </a:rPr>
              <a:t>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4828031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Distribution Centers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525780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2200" b="1" i="0">
                <a:solidFill>
                  <a:srgbClr val="D7E55A"/>
                </a:solidFill>
                <a:latin typeface="Arial"/>
              </a:rPr>
              <a:t>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5330952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Engineering Facilities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989320"/>
            <a:ext cx="11274552" cy="45720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0E4357"/>
                </a:solidFill>
                <a:latin typeface="맑은 고딕"/>
              </a:rPr>
              <a:t>Insight  ·  현대차는 지정학적 리스크와 경기 변동 속에서도 북미 최대 실적 및 인도 시장 성장을 통해 글로벌 판매 비중을 성공적으로 다변화했다.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65760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0" b="1" i="0">
                <a:solidFill>
                  <a:srgbClr val="D7E55A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37744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맑은 고딕"/>
              </a:rPr>
              <a:t>현대 북미 및 남미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3200400"/>
            <a:ext cx="7315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Hyundai N.America &amp; S.America Market ·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2179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7E55A"/>
                </a:solidFill>
                <a:latin typeface="Arial"/>
              </a:rPr>
              <a:t>TENNECO × HYUNDAI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Arial"/>
              </a:rPr>
              <a:t>— 5 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현대 북미 및 남미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2-1. Hyundai N.America &amp; S.America Market  |  국가별 판매 현황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55448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■ 2025년 현대자동차 핵심 국가별 판매 현황 (글로벌 134만 대 기준)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965960"/>
          <a:ext cx="658368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651760"/>
                <a:gridCol w="1828800"/>
                <a:gridCol w="1097280"/>
              </a:tblGrid>
              <a:tr h="483325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지역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핵심 국가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판매 수량 (추정)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글로벌 비중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483325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북미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미국 (USA)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90.2만 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21.8%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북미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캐나다 (Canada)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14.1만 대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3.4%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483325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북미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멕시코 (Mexico)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5.1만 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남미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브라질 (HMB)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18.5만 대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4.5%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483325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기타 아메리카 국가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6.1만 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아메리카 전체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약 134.0만 대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32.4%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0" y="15544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■ 판매량 시각화 (만 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011680"/>
            <a:ext cx="1051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2B2B2B"/>
                </a:solidFill>
                <a:latin typeface="맑은 고딕"/>
              </a:rPr>
              <a:t>미국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084832"/>
            <a:ext cx="2804281" cy="25603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62481" y="201168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90.2만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560320"/>
            <a:ext cx="1051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2B2B2B"/>
                </a:solidFill>
                <a:latin typeface="맑은 고딕"/>
              </a:rPr>
              <a:t>브라질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633472"/>
            <a:ext cx="575157" cy="25603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33357" y="25603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18.5만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108960"/>
            <a:ext cx="1051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2B2B2B"/>
                </a:solidFill>
                <a:latin typeface="맑은 고딕"/>
              </a:rPr>
              <a:t>캐나다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3182112"/>
            <a:ext cx="438363" cy="25603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6563" y="31089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14.1만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657600"/>
            <a:ext cx="1051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2B2B2B"/>
                </a:solidFill>
                <a:latin typeface="맑은 고딕"/>
              </a:rPr>
              <a:t>기타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3730752"/>
            <a:ext cx="189646" cy="256032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47846" y="36576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6.1만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206240"/>
            <a:ext cx="1051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2B2B2B"/>
                </a:solidFill>
                <a:latin typeface="맑은 고딕"/>
              </a:rPr>
              <a:t>멕시코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4279392"/>
            <a:ext cx="158556" cy="256032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16756" y="42062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Arial"/>
              </a:rPr>
              <a:t>5.1만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623560"/>
            <a:ext cx="11274552" cy="8229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7E55A"/>
                </a:solidFill>
                <a:latin typeface="Arial"/>
              </a:rPr>
              <a:t>KEY TAKEAWAY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아메리카 판매의 67%가 미국에 집중 (90.2만 대). 브라질·멕시코의 현지 생산 기반(HMB)은 Tenneco 공급 확장의 핵심 레버리지.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현대 북미 및 남미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2-2. GM · Toyota · Hyundai 판매량 비교  |  2025년 기준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645920"/>
            <a:ext cx="3749039" cy="347472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7E55A"/>
                </a:solidFill>
                <a:latin typeface="Arial"/>
              </a:rPr>
              <a:t>DOMINANT LEADER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3383279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GM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71800"/>
            <a:ext cx="731520" cy="36576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맑은 고딕"/>
              </a:rPr>
              <a:t>아메리카 총 판매량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338327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맑은 고딕"/>
              </a:rPr>
              <a:t>약 320 ~ 340만 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맑은 고딕"/>
              </a:rPr>
              <a:t>시장 지위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338327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북미 1위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80560"/>
            <a:ext cx="3383279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대형 픽업트럭과 SUV 중심의 압도적 시장 지배력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79" y="1645920"/>
            <a:ext cx="3749039" cy="347472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1828800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7E55A"/>
                </a:solidFill>
                <a:latin typeface="Arial"/>
              </a:rPr>
              <a:t>HYBRID POWERHOUSE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148840"/>
            <a:ext cx="3383279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TOYOTA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2971800"/>
            <a:ext cx="731520" cy="36576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59" y="3108960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맑은 고딕"/>
              </a:rPr>
              <a:t>아메리카 총 판매량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383280"/>
            <a:ext cx="338327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맑은 고딕"/>
              </a:rPr>
              <a:t>약 280 ~ 300만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3886200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맑은 고딕"/>
              </a:rPr>
              <a:t>시장 지위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114800"/>
            <a:ext cx="338327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하이브리드 1위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4480560"/>
            <a:ext cx="3383279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하이브리드 절대 강자. 북미·남미 모두에서 높은 신뢰도 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1645920"/>
            <a:ext cx="3749039" cy="3474720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8" y="1828800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7E55A"/>
                </a:solidFill>
                <a:latin typeface="Arial"/>
              </a:rPr>
              <a:t>FASTEST GROWING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8" y="2148840"/>
            <a:ext cx="3383279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HYUNDAI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38" y="2971800"/>
            <a:ext cx="731520" cy="36576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38" y="3108960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맑은 고딕"/>
              </a:rPr>
              <a:t>아메리카 총 판매량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38" y="3383280"/>
            <a:ext cx="3383279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맑은 고딕"/>
              </a:rPr>
              <a:t>약 134만 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38" y="3886200"/>
            <a:ext cx="3383279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맑은 고딕"/>
              </a:rPr>
              <a:t>시장 지위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38" y="4114800"/>
            <a:ext cx="3383279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성장세 1위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8" y="4480560"/>
            <a:ext cx="3383279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전기차 및 SUV 라인업 강화를 통해 추격 중. Tenneco의 주력 고객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303520"/>
            <a:ext cx="11274552" cy="109728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39496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■ 전략적 해석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150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현대차는 GM·Toyota 대비 절대 판매량은 낮지만 성장률·전동화 속도·신규 플랫폼(EV GMP) 기준으로 가장 공격적. Tenneco 입장에서 중장기 볼륨 확대 여지가 가장 큰 OEM.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65760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0" b="1" i="0">
                <a:solidFill>
                  <a:srgbClr val="D7E55A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37744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맑은 고딕"/>
              </a:rPr>
              <a:t>현대에서의 Tenneco 점유율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3200400"/>
            <a:ext cx="7315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Tenneco Business Ratio in Hyundai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2179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7E55A"/>
                </a:solidFill>
                <a:latin typeface="Arial"/>
              </a:rPr>
              <a:t>TENNECO × HYUNDAI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Arial"/>
              </a:rPr>
              <a:t>— 8 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현대에서의 Tenneco 점유율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3. Tenneco Business Ratio in Hyundai  |  공급사별 점유 현황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■ 현대/기아 섀시 댐퍼 공급사 점유율 (추정)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3685032" cy="54864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3685032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Mando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65%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42232" y="2103120"/>
            <a:ext cx="1020470" cy="54864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42232" y="2103120"/>
            <a:ext cx="102047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ZF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18%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2702" y="2103120"/>
            <a:ext cx="566928" cy="548640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2702" y="2103120"/>
            <a:ext cx="56692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Bilstein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29630" y="2103120"/>
            <a:ext cx="396849" cy="54864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9630" y="2103120"/>
            <a:ext cx="39684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맑은 고딕"/>
              </a:rPr>
              <a:t>Tenneco</a:t>
            </a:r>
          </a:p>
          <a:p>
            <a:pPr algn="ctr"/>
            <a:r>
              <a:rPr sz="1100" b="1" i="0">
                <a:solidFill>
                  <a:srgbClr val="0E4357"/>
                </a:solidFill>
                <a:latin typeface="맑은 고딕"/>
              </a:rPr>
              <a:t>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88920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* 추정치: Mando 국내 현대/기아 기본 섀시 독점 + ZF(Genesis/Ioniq6 N) · Bilstein(High-end) · Tenneco(초기 진입)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00400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■ 공급 영역 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137160" cy="3657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6118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Arial"/>
              </a:rPr>
              <a:t>Mando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611880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현대/기아 기본 섀시의 대부분 (ICE/EV 공용 Conventional + Semi-active)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137160" cy="36576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02336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Arial"/>
              </a:rPr>
              <a:t>ZF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023360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Genesis Entry-Level, Ioniq6 N (Semi-active ECS)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137160" cy="365760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43484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Arial"/>
              </a:rPr>
              <a:t>Bilstein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4434840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Genesis High-end (Air shock + ECS) 전용 포지션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137160" cy="3657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463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Arial"/>
              </a:rPr>
              <a:t>Tenneco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4846320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초기 진입 단계 — CVSA2 Demo Car 검증 단계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1554480"/>
            <a:ext cx="5330952" cy="438912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169164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7E55A"/>
                </a:solidFill>
                <a:latin typeface="Arial"/>
              </a:rPr>
              <a:t>OPPORTUNITY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011680"/>
            <a:ext cx="5029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Tenneco의 점유 확장 여지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0" y="2743200"/>
            <a:ext cx="1645920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583680" y="2926080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D7E55A"/>
                </a:solidFill>
                <a:latin typeface="맑은 고딕"/>
              </a:rPr>
              <a:t>▲ 2-Valve MacPherson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20040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현대가 차기 제품에 요구하는 핵심 기술 — Tenneco만 보유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3538728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D7E55A"/>
                </a:solidFill>
                <a:latin typeface="맑은 고딕"/>
              </a:rPr>
              <a:t>▲ 가격 경쟁력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813048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ZF·Bilstein 대비 HMC가 합리적이라 평가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151376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D7E55A"/>
                </a:solidFill>
                <a:latin typeface="맑은 고딕"/>
              </a:rPr>
              <a:t>▲ Golf 유럽 시승 호평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425696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2025년 4월 HMC 엔지니어 긍정 반응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764024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D7E55A"/>
                </a:solidFill>
                <a:latin typeface="맑은 고딕"/>
              </a:rPr>
              <a:t>▲ VP Manfred Harrer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5038344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유럽 공급사 선호 기조 확립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376672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D7E55A"/>
                </a:solidFill>
                <a:latin typeface="맑은 고딕"/>
              </a:rPr>
              <a:t>▲ N → Genesis 수직 확산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5650992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N Brand 검증 시 Genesis 자동 이관 구조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989320"/>
            <a:ext cx="11274552" cy="41148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현재 Tenneco 점유율은 한 자릿수 초기 진입. CVSA2 Ioniq6 N RFQ 확정 시 두 자릿수 급상승 가능.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65760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0" b="1" i="0">
                <a:solidFill>
                  <a:srgbClr val="D7E55A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37744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맑은 고딕"/>
              </a:rPr>
              <a:t>테네코에서의 현대 공급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3200400"/>
            <a:ext cx="7315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Tenneco Hyundai Supply Programs  |  China · India · Brazil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2179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7E55A"/>
                </a:solidFill>
                <a:latin typeface="Arial"/>
              </a:rPr>
              <a:t>TENNECO × HYUNDAI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Arial"/>
              </a:rPr>
              <a:t>— 10 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테네코에서의 현대 공급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4-1.  지역별 프로젝트 카드  |  Country × Vehicle ×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600200"/>
            <a:ext cx="1783080" cy="1417320"/>
          </a:xfrm>
          <a:prstGeom prst="rect">
            <a:avLst/>
          </a:prstGeom>
          <a:solidFill>
            <a:srgbClr val="F5F5F7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09928"/>
            <a:ext cx="292608" cy="182880"/>
          </a:xfrm>
          <a:prstGeom prst="rect">
            <a:avLst/>
          </a:prstGeom>
          <a:noFill/>
          <a:ln w="635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09928"/>
            <a:ext cx="292608" cy="182880"/>
          </a:xfrm>
          <a:prstGeom prst="rect">
            <a:avLst/>
          </a:prstGeom>
          <a:solidFill>
            <a:srgbClr val="DE28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91640"/>
            <a:ext cx="9144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0E4357"/>
                </a:solidFill>
                <a:latin typeface="Arial"/>
              </a:rPr>
              <a:t>CHINA</a:t>
            </a:r>
          </a:p>
        </p:txBody>
      </p:sp>
      <p:sp>
        <p:nvSpPr>
          <p:cNvPr id="12" name="Oval 11"/>
          <p:cNvSpPr/>
          <p:nvPr/>
        </p:nvSpPr>
        <p:spPr>
          <a:xfrm>
            <a:off x="1883664" y="1673352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83664" y="1673352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965960"/>
            <a:ext cx="1563624" cy="502920"/>
          </a:xfrm>
          <a:prstGeom prst="rect">
            <a:avLst/>
          </a:prstGeom>
          <a:solidFill>
            <a:srgbClr val="E8F0F3"/>
          </a:solidFill>
          <a:ln w="6350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965960"/>
            <a:ext cx="15636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1A6F8C"/>
                </a:solidFill>
                <a:latin typeface="맑은 고딕"/>
              </a:rPr>
              <a:t>🚗  차량 사진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14600"/>
            <a:ext cx="15636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Arial"/>
              </a:rPr>
              <a:t>GC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0632"/>
            <a:ext cx="156362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맑은 고딕"/>
              </a:rPr>
              <a:t>IX25  ·  SOP 2014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50008" y="1600200"/>
            <a:ext cx="1783080" cy="1417320"/>
          </a:xfrm>
          <a:prstGeom prst="rect">
            <a:avLst/>
          </a:prstGeom>
          <a:solidFill>
            <a:srgbClr val="F5F5F7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9736" y="1709928"/>
            <a:ext cx="292608" cy="182880"/>
          </a:xfrm>
          <a:prstGeom prst="rect">
            <a:avLst/>
          </a:prstGeom>
          <a:noFill/>
          <a:ln w="635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59736" y="1709928"/>
            <a:ext cx="292608" cy="182880"/>
          </a:xfrm>
          <a:prstGeom prst="rect">
            <a:avLst/>
          </a:prstGeom>
          <a:solidFill>
            <a:srgbClr val="DE28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07208" y="1691640"/>
            <a:ext cx="9144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0E4357"/>
                </a:solidFill>
                <a:latin typeface="Arial"/>
              </a:rPr>
              <a:t>CHINA</a:t>
            </a:r>
          </a:p>
        </p:txBody>
      </p:sp>
      <p:sp>
        <p:nvSpPr>
          <p:cNvPr id="22" name="Oval 21"/>
          <p:cNvSpPr/>
          <p:nvPr/>
        </p:nvSpPr>
        <p:spPr>
          <a:xfrm>
            <a:off x="3776472" y="1673352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6472" y="1673352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9736" y="1965960"/>
            <a:ext cx="1563624" cy="502920"/>
          </a:xfrm>
          <a:prstGeom prst="rect">
            <a:avLst/>
          </a:prstGeom>
          <a:solidFill>
            <a:srgbClr val="E8F0F3"/>
          </a:solidFill>
          <a:ln w="6350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59736" y="1965960"/>
            <a:ext cx="15636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1A6F8C"/>
                </a:solidFill>
                <a:latin typeface="맑은 고딕"/>
              </a:rPr>
              <a:t>🚗  차량 사진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9736" y="2514600"/>
            <a:ext cx="15636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Arial"/>
              </a:rPr>
              <a:t>YC FL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59736" y="2770632"/>
            <a:ext cx="156362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맑은 고딕"/>
              </a:rPr>
              <a:t>Verna  ·  SOP 2019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42816" y="1600200"/>
            <a:ext cx="1783080" cy="1417320"/>
          </a:xfrm>
          <a:prstGeom prst="rect">
            <a:avLst/>
          </a:prstGeom>
          <a:solidFill>
            <a:srgbClr val="F5F5F7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52544" y="1709928"/>
            <a:ext cx="292608" cy="182880"/>
          </a:xfrm>
          <a:prstGeom prst="rect">
            <a:avLst/>
          </a:prstGeom>
          <a:noFill/>
          <a:ln w="635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52544" y="1709928"/>
            <a:ext cx="292608" cy="182880"/>
          </a:xfrm>
          <a:prstGeom prst="rect">
            <a:avLst/>
          </a:prstGeom>
          <a:solidFill>
            <a:srgbClr val="DE28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0016" y="1691640"/>
            <a:ext cx="9144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0E4357"/>
                </a:solidFill>
                <a:latin typeface="Arial"/>
              </a:rPr>
              <a:t>CHINA</a:t>
            </a:r>
          </a:p>
        </p:txBody>
      </p:sp>
      <p:sp>
        <p:nvSpPr>
          <p:cNvPr id="32" name="Oval 31"/>
          <p:cNvSpPr/>
          <p:nvPr/>
        </p:nvSpPr>
        <p:spPr>
          <a:xfrm>
            <a:off x="5669280" y="1673352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1673352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2544" y="1965960"/>
            <a:ext cx="1563624" cy="502920"/>
          </a:xfrm>
          <a:prstGeom prst="rect">
            <a:avLst/>
          </a:prstGeom>
          <a:solidFill>
            <a:srgbClr val="E8F0F3"/>
          </a:solidFill>
          <a:ln w="6350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52544" y="1965960"/>
            <a:ext cx="15636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1A6F8C"/>
                </a:solidFill>
                <a:latin typeface="맑은 고딕"/>
              </a:rPr>
              <a:t>🚗  차량 사진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52544" y="2514600"/>
            <a:ext cx="15636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Arial"/>
              </a:rPr>
              <a:t>ADC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2544" y="2770632"/>
            <a:ext cx="156362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맑은 고딕"/>
              </a:rPr>
              <a:t>Elantra 6th  ·  SOP 2016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108960"/>
            <a:ext cx="1783080" cy="1417320"/>
          </a:xfrm>
          <a:prstGeom prst="rect">
            <a:avLst/>
          </a:prstGeom>
          <a:solidFill>
            <a:srgbClr val="F5F5F7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3218688"/>
            <a:ext cx="292608" cy="182880"/>
          </a:xfrm>
          <a:prstGeom prst="rect">
            <a:avLst/>
          </a:prstGeom>
          <a:noFill/>
          <a:ln w="635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3218688"/>
            <a:ext cx="292608" cy="182880"/>
          </a:xfrm>
          <a:prstGeom prst="rect">
            <a:avLst/>
          </a:prstGeom>
          <a:solidFill>
            <a:srgbClr val="DE28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3200400"/>
            <a:ext cx="9144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0E4357"/>
                </a:solidFill>
                <a:latin typeface="Arial"/>
              </a:rPr>
              <a:t>CHINA</a:t>
            </a:r>
          </a:p>
        </p:txBody>
      </p:sp>
      <p:sp>
        <p:nvSpPr>
          <p:cNvPr id="42" name="Oval 41"/>
          <p:cNvSpPr/>
          <p:nvPr/>
        </p:nvSpPr>
        <p:spPr>
          <a:xfrm>
            <a:off x="1883664" y="3182112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83664" y="3182112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3474720"/>
            <a:ext cx="1563624" cy="502920"/>
          </a:xfrm>
          <a:prstGeom prst="rect">
            <a:avLst/>
          </a:prstGeom>
          <a:solidFill>
            <a:srgbClr val="E8F0F3"/>
          </a:solidFill>
          <a:ln w="6350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474720"/>
            <a:ext cx="15636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1A6F8C"/>
                </a:solidFill>
                <a:latin typeface="맑은 고딕"/>
              </a:rPr>
              <a:t>🚗  차량 사진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023360"/>
            <a:ext cx="15636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Arial"/>
              </a:rPr>
              <a:t>CN7c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279392"/>
            <a:ext cx="156362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맑은 고딕"/>
              </a:rPr>
              <a:t>Elantra 7th  ·  SOP 2020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50008" y="3108960"/>
            <a:ext cx="1783080" cy="1417320"/>
          </a:xfrm>
          <a:prstGeom prst="rect">
            <a:avLst/>
          </a:prstGeom>
          <a:solidFill>
            <a:srgbClr val="F5F5F7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459736" y="3218688"/>
            <a:ext cx="292608" cy="182880"/>
          </a:xfrm>
          <a:prstGeom prst="rect">
            <a:avLst/>
          </a:prstGeom>
          <a:noFill/>
          <a:ln w="635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459736" y="3218688"/>
            <a:ext cx="292608" cy="60960"/>
          </a:xfrm>
          <a:prstGeom prst="rect">
            <a:avLst/>
          </a:prstGeom>
          <a:solidFill>
            <a:srgbClr val="FF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459736" y="3279648"/>
            <a:ext cx="292608" cy="60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459736" y="3340608"/>
            <a:ext cx="292608" cy="60960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07208" y="3200400"/>
            <a:ext cx="9144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0E4357"/>
                </a:solidFill>
                <a:latin typeface="Arial"/>
              </a:rPr>
              <a:t>INDIA</a:t>
            </a:r>
          </a:p>
        </p:txBody>
      </p:sp>
      <p:sp>
        <p:nvSpPr>
          <p:cNvPr id="54" name="Oval 53"/>
          <p:cNvSpPr/>
          <p:nvPr/>
        </p:nvSpPr>
        <p:spPr>
          <a:xfrm>
            <a:off x="3776472" y="3182112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76472" y="3182112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59736" y="3474720"/>
            <a:ext cx="1563624" cy="502920"/>
          </a:xfrm>
          <a:prstGeom prst="rect">
            <a:avLst/>
          </a:prstGeom>
          <a:solidFill>
            <a:srgbClr val="E8F0F3"/>
          </a:solidFill>
          <a:ln w="6350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59736" y="3474720"/>
            <a:ext cx="15636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1A6F8C"/>
                </a:solidFill>
                <a:latin typeface="맑은 고딕"/>
              </a:rPr>
              <a:t>🚗  차량 사진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59736" y="4023360"/>
            <a:ext cx="15636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Arial"/>
              </a:rPr>
              <a:t>QXI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59736" y="4279392"/>
            <a:ext cx="156362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맑은 고딕"/>
              </a:rPr>
              <a:t>Venue  ·  SOP 2019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42816" y="3108960"/>
            <a:ext cx="1783080" cy="1417320"/>
          </a:xfrm>
          <a:prstGeom prst="rect">
            <a:avLst/>
          </a:prstGeom>
          <a:solidFill>
            <a:srgbClr val="F5F5F7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52544" y="3218688"/>
            <a:ext cx="292608" cy="182880"/>
          </a:xfrm>
          <a:prstGeom prst="rect">
            <a:avLst/>
          </a:prstGeom>
          <a:noFill/>
          <a:ln w="635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352544" y="3218688"/>
            <a:ext cx="292608" cy="60960"/>
          </a:xfrm>
          <a:prstGeom prst="rect">
            <a:avLst/>
          </a:prstGeom>
          <a:solidFill>
            <a:srgbClr val="FF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352544" y="3279648"/>
            <a:ext cx="292608" cy="60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352544" y="3340608"/>
            <a:ext cx="292608" cy="60960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00016" y="3200400"/>
            <a:ext cx="9144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0E4357"/>
                </a:solidFill>
                <a:latin typeface="Arial"/>
              </a:rPr>
              <a:t>INDIA</a:t>
            </a:r>
          </a:p>
        </p:txBody>
      </p:sp>
      <p:sp>
        <p:nvSpPr>
          <p:cNvPr id="66" name="Oval 65"/>
          <p:cNvSpPr/>
          <p:nvPr/>
        </p:nvSpPr>
        <p:spPr>
          <a:xfrm>
            <a:off x="5669280" y="3182112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0" y="3182112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52544" y="3474720"/>
            <a:ext cx="1563624" cy="502920"/>
          </a:xfrm>
          <a:prstGeom prst="rect">
            <a:avLst/>
          </a:prstGeom>
          <a:solidFill>
            <a:srgbClr val="E8F0F3"/>
          </a:solidFill>
          <a:ln w="6350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52544" y="3474720"/>
            <a:ext cx="15636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1A6F8C"/>
                </a:solidFill>
                <a:latin typeface="맑은 고딕"/>
              </a:rPr>
              <a:t>🚗  차량 사진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52544" y="4023360"/>
            <a:ext cx="15636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Arial"/>
              </a:rPr>
              <a:t>BI3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52544" y="4279392"/>
            <a:ext cx="156362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맑은 고딕"/>
              </a:rPr>
              <a:t>Elite i20  ·  SOP 2020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4617720"/>
            <a:ext cx="1783080" cy="1417320"/>
          </a:xfrm>
          <a:prstGeom prst="rect">
            <a:avLst/>
          </a:prstGeom>
          <a:solidFill>
            <a:srgbClr val="F5F5F7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6928" y="4727448"/>
            <a:ext cx="292608" cy="182880"/>
          </a:xfrm>
          <a:prstGeom prst="rect">
            <a:avLst/>
          </a:prstGeom>
          <a:noFill/>
          <a:ln w="635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66928" y="4727448"/>
            <a:ext cx="292608" cy="91440"/>
          </a:xfrm>
          <a:prstGeom prst="rect">
            <a:avLst/>
          </a:prstGeom>
          <a:solidFill>
            <a:srgbClr val="009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4818888"/>
            <a:ext cx="292608" cy="91440"/>
          </a:xfrm>
          <a:prstGeom prst="rect">
            <a:avLst/>
          </a:prstGeom>
          <a:solidFill>
            <a:srgbClr val="FED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" y="4709160"/>
            <a:ext cx="9144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0E4357"/>
                </a:solidFill>
                <a:latin typeface="Arial"/>
              </a:rPr>
              <a:t>BRAZIL</a:t>
            </a:r>
          </a:p>
        </p:txBody>
      </p:sp>
      <p:sp>
        <p:nvSpPr>
          <p:cNvPr id="77" name="Oval 76"/>
          <p:cNvSpPr/>
          <p:nvPr/>
        </p:nvSpPr>
        <p:spPr>
          <a:xfrm>
            <a:off x="1883664" y="4690872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883664" y="4690872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4983480"/>
            <a:ext cx="1563624" cy="502920"/>
          </a:xfrm>
          <a:prstGeom prst="rect">
            <a:avLst/>
          </a:prstGeom>
          <a:solidFill>
            <a:srgbClr val="E8F0F3"/>
          </a:solidFill>
          <a:ln w="6350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4983480"/>
            <a:ext cx="15636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1A6F8C"/>
                </a:solidFill>
                <a:latin typeface="맑은 고딕"/>
              </a:rPr>
              <a:t>🚗  차량 사진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5532120"/>
            <a:ext cx="15636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Arial"/>
              </a:rPr>
              <a:t>BR2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5788152"/>
            <a:ext cx="156362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맑은 고딕"/>
              </a:rPr>
              <a:t>HB20  ·  SOP 2022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350008" y="4617720"/>
            <a:ext cx="1783080" cy="1417320"/>
          </a:xfrm>
          <a:prstGeom prst="rect">
            <a:avLst/>
          </a:prstGeom>
          <a:solidFill>
            <a:srgbClr val="F5F5F7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459736" y="4727448"/>
            <a:ext cx="292608" cy="182880"/>
          </a:xfrm>
          <a:prstGeom prst="rect">
            <a:avLst/>
          </a:prstGeom>
          <a:noFill/>
          <a:ln w="635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459736" y="4727448"/>
            <a:ext cx="292608" cy="91440"/>
          </a:xfrm>
          <a:prstGeom prst="rect">
            <a:avLst/>
          </a:prstGeom>
          <a:solidFill>
            <a:srgbClr val="009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59736" y="4818888"/>
            <a:ext cx="292608" cy="91440"/>
          </a:xfrm>
          <a:prstGeom prst="rect">
            <a:avLst/>
          </a:prstGeom>
          <a:solidFill>
            <a:srgbClr val="FED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807208" y="4709160"/>
            <a:ext cx="9144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0E4357"/>
                </a:solidFill>
                <a:latin typeface="Arial"/>
              </a:rPr>
              <a:t>BRAZIL</a:t>
            </a:r>
          </a:p>
        </p:txBody>
      </p:sp>
      <p:sp>
        <p:nvSpPr>
          <p:cNvPr id="88" name="Oval 87"/>
          <p:cNvSpPr/>
          <p:nvPr/>
        </p:nvSpPr>
        <p:spPr>
          <a:xfrm>
            <a:off x="3776472" y="4690872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776472" y="4690872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459736" y="4983480"/>
            <a:ext cx="1563624" cy="502920"/>
          </a:xfrm>
          <a:prstGeom prst="rect">
            <a:avLst/>
          </a:prstGeom>
          <a:solidFill>
            <a:srgbClr val="E8F0F3"/>
          </a:solidFill>
          <a:ln w="6350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459736" y="4983480"/>
            <a:ext cx="15636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1A6F8C"/>
                </a:solidFill>
                <a:latin typeface="맑은 고딕"/>
              </a:rPr>
              <a:t>🚗  차량 사진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459736" y="5532120"/>
            <a:ext cx="15636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Arial"/>
              </a:rPr>
              <a:t>SU2b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459736" y="5788152"/>
            <a:ext cx="156362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맑은 고딕"/>
              </a:rPr>
              <a:t>Creta  ·  SOP 2023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42816" y="4617720"/>
            <a:ext cx="1783080" cy="1417320"/>
          </a:xfrm>
          <a:prstGeom prst="rect">
            <a:avLst/>
          </a:prstGeom>
          <a:solidFill>
            <a:srgbClr val="F5F5F7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52544" y="4727448"/>
            <a:ext cx="292608" cy="182880"/>
          </a:xfrm>
          <a:prstGeom prst="rect">
            <a:avLst/>
          </a:prstGeom>
          <a:noFill/>
          <a:ln w="635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352544" y="4727448"/>
            <a:ext cx="292608" cy="91440"/>
          </a:xfrm>
          <a:prstGeom prst="rect">
            <a:avLst/>
          </a:prstGeom>
          <a:solidFill>
            <a:srgbClr val="009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352544" y="4818888"/>
            <a:ext cx="292608" cy="91440"/>
          </a:xfrm>
          <a:prstGeom prst="rect">
            <a:avLst/>
          </a:prstGeom>
          <a:solidFill>
            <a:srgbClr val="FED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700016" y="4709160"/>
            <a:ext cx="9144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0E4357"/>
                </a:solidFill>
                <a:latin typeface="Arial"/>
              </a:rPr>
              <a:t>BRAZIL</a:t>
            </a:r>
          </a:p>
        </p:txBody>
      </p:sp>
      <p:sp>
        <p:nvSpPr>
          <p:cNvPr id="99" name="Oval 98"/>
          <p:cNvSpPr/>
          <p:nvPr/>
        </p:nvSpPr>
        <p:spPr>
          <a:xfrm>
            <a:off x="5669280" y="4690872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669280" y="4690872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352544" y="4983480"/>
            <a:ext cx="1563624" cy="502920"/>
          </a:xfrm>
          <a:prstGeom prst="rect">
            <a:avLst/>
          </a:prstGeom>
          <a:solidFill>
            <a:srgbClr val="E8F0F3"/>
          </a:solidFill>
          <a:ln w="6350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352544" y="4983480"/>
            <a:ext cx="15636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1A6F8C"/>
                </a:solidFill>
                <a:latin typeface="맑은 고딕"/>
              </a:rPr>
              <a:t>🚗  차량 사진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52544" y="5532120"/>
            <a:ext cx="15636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Arial"/>
              </a:rPr>
              <a:t>BC4b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52544" y="5788152"/>
            <a:ext cx="156362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맑은 고딕"/>
              </a:rPr>
              <a:t>(개발중)  ·  SOP 2026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55080" y="1600200"/>
            <a:ext cx="5349240" cy="434340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702780" y="2512314"/>
            <a:ext cx="588416" cy="955548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130720" y="3945636"/>
            <a:ext cx="374446" cy="1216152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682000" y="2382012"/>
            <a:ext cx="481431" cy="694944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869222" y="3337560"/>
            <a:ext cx="534924" cy="1303020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671608" y="2338578"/>
            <a:ext cx="1069848" cy="1303020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687964" y="4727448"/>
            <a:ext cx="534924" cy="521208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55080" y="1645920"/>
            <a:ext cx="5349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0E4357"/>
                </a:solidFill>
                <a:latin typeface="Arial"/>
              </a:rPr>
              <a:t>GLOBAL PROJECT MAP</a:t>
            </a:r>
          </a:p>
        </p:txBody>
      </p:sp>
      <p:sp>
        <p:nvSpPr>
          <p:cNvPr id="113" name="Oval 112"/>
          <p:cNvSpPr/>
          <p:nvPr/>
        </p:nvSpPr>
        <p:spPr>
          <a:xfrm>
            <a:off x="10116007" y="2839212"/>
            <a:ext cx="822960" cy="822960"/>
          </a:xfrm>
          <a:prstGeom prst="ellipse">
            <a:avLst/>
          </a:prstGeom>
          <a:solidFill>
            <a:srgbClr val="D7E55A"/>
          </a:solidFill>
          <a:ln w="25400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978847" y="3707892"/>
            <a:ext cx="10972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CN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16007" y="3067812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E4357"/>
                </a:solidFill>
                <a:latin typeface="Arial"/>
              </a:rPr>
              <a:t>1·2·3·4</a:t>
            </a:r>
          </a:p>
        </p:txBody>
      </p:sp>
      <p:sp>
        <p:nvSpPr>
          <p:cNvPr id="116" name="Oval 115"/>
          <p:cNvSpPr/>
          <p:nvPr/>
        </p:nvSpPr>
        <p:spPr>
          <a:xfrm>
            <a:off x="9688067" y="3273552"/>
            <a:ext cx="822960" cy="822960"/>
          </a:xfrm>
          <a:prstGeom prst="ellipse">
            <a:avLst/>
          </a:prstGeom>
          <a:solidFill>
            <a:srgbClr val="D7E55A"/>
          </a:solidFill>
          <a:ln w="25400">
            <a:solidFill>
              <a:srgbClr val="125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550907" y="4142232"/>
            <a:ext cx="10972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IN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688067" y="3502152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E4357"/>
                </a:solidFill>
                <a:latin typeface="Arial"/>
              </a:rPr>
              <a:t>5·6</a:t>
            </a:r>
          </a:p>
        </p:txBody>
      </p:sp>
      <p:sp>
        <p:nvSpPr>
          <p:cNvPr id="119" name="Oval 118"/>
          <p:cNvSpPr/>
          <p:nvPr/>
        </p:nvSpPr>
        <p:spPr>
          <a:xfrm>
            <a:off x="7173925" y="4229100"/>
            <a:ext cx="822960" cy="822960"/>
          </a:xfrm>
          <a:prstGeom prst="ellipse">
            <a:avLst/>
          </a:prstGeom>
          <a:solidFill>
            <a:srgbClr val="D7E55A"/>
          </a:solidFill>
          <a:ln w="25400">
            <a:solidFill>
              <a:srgbClr val="0E43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036765" y="5097780"/>
            <a:ext cx="10972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BR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173925" y="4457700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E4357"/>
                </a:solidFill>
                <a:latin typeface="Arial"/>
              </a:rPr>
              <a:t>7·8·9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55080" y="5394960"/>
            <a:ext cx="5349240" cy="4572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92240" y="5440680"/>
            <a:ext cx="50749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D7E55A"/>
                </a:solidFill>
                <a:latin typeface="Arial"/>
              </a:rPr>
              <a:t>PROJECT LOCATIONS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92240" y="5632704"/>
            <a:ext cx="50749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중국 4 · 인도 2 · 브라질 3   (총 9개 프로젝트 / 3대륙)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총 9개 현대 프로그램 · 3대륙 동시 대응 — Tenneco 현대 공급 전략의 지리적 기반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테네코에서의 현대 공급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4-2.  China Project List  |  중국 프로젝트 5종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64238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2709609"/>
                <a:gridCol w="1693506"/>
                <a:gridCol w="1693506"/>
                <a:gridCol w="3387012"/>
              </a:tblGrid>
              <a:tr h="477520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Project Code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Vehicle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SOP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EOP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4775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 b="1">
                          <a:solidFill>
                            <a:srgbClr val="0E4357"/>
                          </a:solidFill>
                          <a:latin typeface="맑은 고딕"/>
                        </a:rPr>
                        <a:t>GC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IX25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2014.10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2017.10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1세대 CUV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 b="1">
                          <a:solidFill>
                            <a:srgbClr val="0E4357"/>
                          </a:solidFill>
                          <a:latin typeface="맑은 고딕"/>
                        </a:rPr>
                        <a:t>GC PE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IX25 (PE)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2017.10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2019.05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Phase Enhancement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4775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 b="1">
                          <a:solidFill>
                            <a:srgbClr val="0E4357"/>
                          </a:solidFill>
                          <a:latin typeface="맑은 고딕"/>
                        </a:rPr>
                        <a:t>YC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Verna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2016.10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2019.10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B세그먼트 세단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 b="1">
                          <a:solidFill>
                            <a:srgbClr val="0E4357"/>
                          </a:solidFill>
                          <a:latin typeface="맑은 고딕"/>
                        </a:rPr>
                        <a:t>YC FL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Verna (FL)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2019.10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2022.03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Face-lift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4775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 b="1">
                          <a:solidFill>
                            <a:srgbClr val="0E4357"/>
                          </a:solidFill>
                          <a:latin typeface="맑은 고딕"/>
                        </a:rPr>
                        <a:t>ADC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Elantra 领动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2016.03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2019.03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6세대 세단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 b="1">
                          <a:solidFill>
                            <a:srgbClr val="0E4357"/>
                          </a:solidFill>
                          <a:latin typeface="맑은 고딕"/>
                        </a:rPr>
                        <a:t>ADC PE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Elantra 领动 PE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2019.03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2020.10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Phase Enhancement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4775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 b="1">
                          <a:solidFill>
                            <a:srgbClr val="0E4357"/>
                          </a:solidFill>
                          <a:latin typeface="맑은 고딕"/>
                        </a:rPr>
                        <a:t>ADC PHEV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Elantra 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2019.05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하이브리드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 b="1">
                          <a:solidFill>
                            <a:srgbClr val="0E4357"/>
                          </a:solidFill>
                          <a:latin typeface="맑은 고딕"/>
                        </a:rPr>
                        <a:t>CN7c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Elantra 7th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2020.10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2023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7세대 현행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0E4357"/>
                </a:solidFill>
                <a:latin typeface="맑은 고딕"/>
              </a:rPr>
              <a:t>중국은 Tenneco의 현대 공급 베이스가 가장 두터운 지역. 2014년부터 연속 세대 공급 이어옴.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테네코에서의 현대 공급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4-3.  India &amp; Brazil Project List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640" y="1600200"/>
            <a:ext cx="5440680" cy="41148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54406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INDIA  |  인도 — 2개 프로젝트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057400"/>
          <a:ext cx="5440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688"/>
                <a:gridCol w="1943100"/>
                <a:gridCol w="1010412"/>
                <a:gridCol w="1554480"/>
              </a:tblGrid>
              <a:tr h="609600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Code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Vehicle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SOP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60960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 b="1">
                          <a:solidFill>
                            <a:srgbClr val="0E4357"/>
                          </a:solidFill>
                          <a:latin typeface="맑은 고딕"/>
                        </a:rPr>
                        <a:t>QXI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2019.05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소형 SUV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 b="1">
                          <a:solidFill>
                            <a:srgbClr val="0E4357"/>
                          </a:solidFill>
                          <a:latin typeface="맑은 고딕"/>
                        </a:rPr>
                        <a:t>BI3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Elite i20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2020.10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200">
                          <a:solidFill>
                            <a:srgbClr val="2B2B2B"/>
                          </a:solidFill>
                          <a:latin typeface="맑은 고딕"/>
                        </a:rPr>
                        <a:t>해치백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172200" y="1600200"/>
            <a:ext cx="5440680" cy="41148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00200"/>
            <a:ext cx="54406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BRAZIL  |  브라질 — 3개 프로젝트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2057400"/>
          <a:ext cx="544067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688"/>
                <a:gridCol w="1709928"/>
                <a:gridCol w="1010412"/>
                <a:gridCol w="1787651"/>
              </a:tblGrid>
              <a:tr h="548640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Code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Vehicle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SOP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BR2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HB20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2022.06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해치백 (현지모델)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SU2b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Creta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2023~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소형 SUV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SU2b PE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Creta 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2024.12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Phase Enhancement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BC4b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2026~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개발중 (In development)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303520"/>
            <a:ext cx="109728" cy="109728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39496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💡  Key 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15000"/>
            <a:ext cx="107899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신흥시장 (인도·브라질) 중심으로 현대 현지 생산 모델 지속 수주 중.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BC4b 2026년 양산 예정 → 브라질 공급량 추가 확대 전망.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테네코에서의 현대 공급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4-4.  Program Vehicle Volume  |  Sales by country infographic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00200"/>
          <a:ext cx="667511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497"/>
                <a:gridCol w="1059542"/>
                <a:gridCol w="890016"/>
                <a:gridCol w="890016"/>
                <a:gridCol w="890016"/>
                <a:gridCol w="890016"/>
                <a:gridCol w="890016"/>
              </a:tblGrid>
              <a:tr h="470262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지역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Project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2023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2024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2025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2026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2027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470262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0E4357"/>
                          </a:solidFill>
                          <a:latin typeface="맑은 고딕"/>
                        </a:rPr>
                        <a:t>🇮🇳 India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BI3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81,600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80,450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80,710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6,860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0E4357"/>
                          </a:solidFill>
                          <a:latin typeface="맑은 고딕"/>
                        </a:rPr>
                        <a:t>🇮🇳 India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Qxi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138,300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116,370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57,850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470262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0E4357"/>
                          </a:solidFill>
                          <a:latin typeface="맑은 고딕"/>
                        </a:rPr>
                        <a:t>🇧🇷 Brazil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BR2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137,600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148,800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145,800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30,500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0E4357"/>
                          </a:solidFill>
                          <a:latin typeface="맑은 고딕"/>
                        </a:rPr>
                        <a:t>🇧🇷 Brazil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SU2b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70,200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73,000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43,000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470262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0E4357"/>
                          </a:solidFill>
                          <a:latin typeface="맑은 고딕"/>
                        </a:rPr>
                        <a:t>🇧🇷 Brazil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BC4b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112,500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>
                          <a:solidFill>
                            <a:srgbClr val="2B2B2B"/>
                          </a:solidFill>
                          <a:latin typeface="맑은 고딕"/>
                        </a:rPr>
                        <a:t>138,000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합계(추정)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357,500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345,620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354,560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222,860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181,000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223760" y="1600200"/>
            <a:ext cx="4480560" cy="34747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1600200"/>
            <a:ext cx="44805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D7E55A"/>
                </a:solidFill>
                <a:latin typeface="맑은 고딕"/>
              </a:rPr>
              <a:t>Volume by Country (2023~2027 누적)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2011680"/>
            <a:ext cx="4480560" cy="13258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23760" y="2011680"/>
            <a:ext cx="640080" cy="132588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01168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D7E55A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97480"/>
            <a:ext cx="6400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맑은 고딕"/>
              </a:rPr>
              <a:t>🇧🇷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10312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E4357"/>
                </a:solidFill>
                <a:latin typeface="Arial"/>
              </a:rPr>
              <a:t>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42316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E4357"/>
                </a:solidFill>
                <a:latin typeface="Arial"/>
              </a:rPr>
              <a:t>899,400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88036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맑은 고딕"/>
              </a:rPr>
              <a:t>약 90만 대 (5년 누적)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32720" y="2240280"/>
            <a:ext cx="1280160" cy="3657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0" y="22402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D7E55A"/>
                </a:solidFill>
                <a:latin typeface="Arial"/>
              </a:rPr>
              <a:t>Projects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2651760"/>
            <a:ext cx="12801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1" i="0">
                <a:solidFill>
                  <a:srgbClr val="0E4357"/>
                </a:solidFill>
                <a:latin typeface="맑은 고딕"/>
              </a:rPr>
              <a:t>BR2 · SU2b · BC4b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3429000"/>
            <a:ext cx="4480560" cy="13258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23760" y="3429000"/>
            <a:ext cx="640080" cy="132588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342900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D7E55A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114800"/>
            <a:ext cx="6400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맑은 고딕"/>
              </a:rPr>
              <a:t>🇮🇳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52044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E4357"/>
                </a:solidFill>
                <a:latin typeface="Arial"/>
              </a:rPr>
              <a:t>India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384048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A6F8C"/>
                </a:solidFill>
                <a:latin typeface="Arial"/>
              </a:rPr>
              <a:t>562,140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29768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맑은 고딕"/>
              </a:rPr>
              <a:t>약 56만 대 (5년 누적)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32720" y="3657600"/>
            <a:ext cx="1280160" cy="36576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0" y="365760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D7E55A"/>
                </a:solidFill>
                <a:latin typeface="Arial"/>
              </a:rPr>
              <a:t>Projects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4069080"/>
            <a:ext cx="12801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1" i="0">
                <a:solidFill>
                  <a:srgbClr val="0E4357"/>
                </a:solidFill>
                <a:latin typeface="맑은 고딕"/>
              </a:rPr>
              <a:t>BI3 · Qxi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029200"/>
            <a:ext cx="11430000" cy="141732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08710" y="5326837"/>
            <a:ext cx="1257300" cy="311810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23110" y="5794553"/>
            <a:ext cx="800100" cy="396849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37810" y="5284318"/>
            <a:ext cx="1028700" cy="226771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37860" y="5596128"/>
            <a:ext cx="1143000" cy="425196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52360" y="5270144"/>
            <a:ext cx="2286000" cy="425196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624060" y="6049670"/>
            <a:ext cx="1143000" cy="170078"/>
          </a:xfrm>
          <a:prstGeom prst="ellipse">
            <a:avLst/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766060" y="5792723"/>
            <a:ext cx="457200" cy="457200"/>
          </a:xfrm>
          <a:prstGeom prst="ellipse">
            <a:avLst/>
          </a:prstGeom>
          <a:solidFill>
            <a:srgbClr val="0E4357"/>
          </a:solidFill>
          <a:ln w="25400">
            <a:solidFill>
              <a:srgbClr val="D7E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66060" y="5792723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7E55A"/>
                </a:solidFill>
                <a:latin typeface="Arial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17420" y="6295643"/>
            <a:ext cx="15544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1" i="0">
                <a:solidFill>
                  <a:srgbClr val="0E4357"/>
                </a:solidFill>
                <a:latin typeface="Arial"/>
              </a:rPr>
              <a:t>BRAZIL · 899K</a:t>
            </a:r>
          </a:p>
        </p:txBody>
      </p:sp>
      <p:sp>
        <p:nvSpPr>
          <p:cNvPr id="41" name="Oval 40"/>
          <p:cNvSpPr/>
          <p:nvPr/>
        </p:nvSpPr>
        <p:spPr>
          <a:xfrm>
            <a:off x="8138159" y="5480913"/>
            <a:ext cx="457200" cy="457200"/>
          </a:xfrm>
          <a:prstGeom prst="ellipse">
            <a:avLst/>
          </a:prstGeom>
          <a:solidFill>
            <a:srgbClr val="1A6F8C"/>
          </a:solidFill>
          <a:ln w="25400">
            <a:solidFill>
              <a:srgbClr val="D7E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59" y="5480913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7E55A"/>
                </a:solidFill>
                <a:latin typeface="Arial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39" y="5983833"/>
            <a:ext cx="14630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1" i="0">
                <a:solidFill>
                  <a:srgbClr val="0E4357"/>
                </a:solidFill>
                <a:latin typeface="Arial"/>
              </a:rPr>
              <a:t>INDIA · 562K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6510528"/>
            <a:ext cx="11430000" cy="7315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테네코에서의 현대 공급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4-5.  China 부품 사양 ①  |  GC · YC FL · ADc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4711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22960"/>
                <a:gridCol w="1371600"/>
                <a:gridCol w="1828800"/>
                <a:gridCol w="2103119"/>
                <a:gridCol w="1188720"/>
                <a:gridCol w="2743200"/>
              </a:tblGrid>
              <a:tr h="548640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Project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F/R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Rod OD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Inner Tube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Outer Tube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Valve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Part No.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GC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Ø32×1.03T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Ø51×2.5T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MEM184501/601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GC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Rear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Ø12.4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Ø30×1.03T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Ø45.3×1.27T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MEM184101/201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YC FL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Ø30×1.03T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Ø48.6×2.5T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MET1W1101/1001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YC FL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Rear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Ø12.4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Ø25.4×1.18T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Ø38.5×1.27T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MET1W0901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ADc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Ø22 (hollow)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Ø32×1.03T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Ø50×2.5T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 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MEM261601/701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ADc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Rear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Ø12.4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Ø25.4×1.18T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Ø38.5×1.27T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 CL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MEM261901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5669280"/>
            <a:ext cx="11247120" cy="73152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Arial"/>
              </a:rPr>
              <a:t>MTV : Mechanically Tuned Valve       MTV CL : MTV Closed-loop       OD : Outer Diameter       T : Thickness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주요 사양: Front Ø22 / Rear Ø12.4 Rod · 2.5T 외경 튜브 · MTV 계열 밸브 (중국 표준)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테네코에서의 현대 공급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4-6.  China 부품 사양 ②  |  CN7c · ADc PHEV · NU2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47113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19"/>
                <a:gridCol w="822959"/>
                <a:gridCol w="1463039"/>
                <a:gridCol w="1828799"/>
                <a:gridCol w="2103119"/>
                <a:gridCol w="1188719"/>
                <a:gridCol w="2651759"/>
              </a:tblGrid>
              <a:tr h="522514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Project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F/R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Rod OD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Inner Tube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Outer Tube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Valve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Part No.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522514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CN7c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Ø22 (hollow)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Ø32×1.03T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Ø50×2.5T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 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MEM548001/549001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CN7c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Rear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Ø12.4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Ø25.4×1.18T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Ø38.5×1.27T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 CL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MEM585801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22514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ADc PHEV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Ø22 (hollow)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Ø32×1.03T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Ø50×2.5T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 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MET1P7901/8001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ADc PHEV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Rear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Ø12.4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Ø30×1.03T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Ø45.3×1.27T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 CL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MET1P8101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22514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NU2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Ø35×1.03T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Ø52×2.5T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 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MX5197F26/F31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NU2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Rear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Ø12.4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Ø30×1.03T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Ø45.3×1.27T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 CL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MX5198F07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486400"/>
            <a:ext cx="109728" cy="91440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📌  7세대 Elantra(CN7c) 이후 프로젝트 공통 특징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978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전량 MTV CL(Closed-Loop) 밸브로 전환 · Front Ø22 hollow rod 표준화 · Rear Ø45.3×1.27T 공용 플랫폼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테네코에서의 현대 공급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4-7.  India 부품 사양  |  QXI · BI3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22960"/>
                <a:gridCol w="1371600"/>
                <a:gridCol w="1828800"/>
                <a:gridCol w="2011680"/>
                <a:gridCol w="1097280"/>
                <a:gridCol w="2560319"/>
              </a:tblGrid>
              <a:tr h="502920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Project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F/R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Rod OD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Inner Tube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Outer Tube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Valve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Part No.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5029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QXI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Ø30×1.03T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Ø48.6×2.5T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MET1L1801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QXI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Rear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Ø12.4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Ø25.4×1.18T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Ø38.5×1.27T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MET1L1801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029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BI3 (Type1)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Ø30×1.03T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Ø45×2.5T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MEM501701/801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BI3 (Type2)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Ø30×1.03T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Ø45×2.5T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MEM501901/502001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0292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BI3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Ø25.4×1.18T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Ø38.5×1.27T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MEM503101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846320"/>
            <a:ext cx="5486400" cy="15544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🇮🇳  인도 사양 특징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03520"/>
            <a:ext cx="53035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• Rod 직경 Ø18 · Ø20 두 타입 운영 (BI3 Dual-spec)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• Outer Tube Ø45~48.6 · 중국 대비 경량화 설계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• 전 사양 MTV 밸브 (보급형 튜닝)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4846320"/>
            <a:ext cx="5577840" cy="155448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D7E55A"/>
                </a:solidFill>
                <a:latin typeface="맑은 고딕"/>
              </a:rPr>
              <a:t>💡  차별화 포인트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5303520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Venue (QXI): 소형 SUV 전용 최경량 사양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Elite (BI3): 해치백 Dual-spec 대응력 입증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향후 Creta India 확대 시 플랫폼 공용 가능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테네코에서의 현대 공급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4-8.  Brazil 부품 사양  |  BR2 · SU2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22960"/>
                <a:gridCol w="1280160"/>
                <a:gridCol w="1828800"/>
                <a:gridCol w="2011680"/>
                <a:gridCol w="1097280"/>
                <a:gridCol w="2651760"/>
              </a:tblGrid>
              <a:tr h="512064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Project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F/R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Rod OD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Inner Tube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Outer Tube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Valve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Part No.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512064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BR2 (HB20)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Ø30×1.27T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Ø45×2.5T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MEM702301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BR2 (HB20)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Rear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Ø12.4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Ø25.4×1.2T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Ø38.1×1.2T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RV+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MEM702501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SU2 (Creta)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Ø30×1.27T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Ø48.6×2.5T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MTV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ME3579301/F401/F501/F601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SU2 (Creta)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Rear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Ø12.4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Ø30×1.27T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Ø45.3×1.2T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RV+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MEM966301/966401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434840"/>
            <a:ext cx="11247120" cy="457200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🟠  브라질 전용: Rear에 RV+ 밸브 채택 → 남미 도로환경 맞춤 튜닝 (중국·인도와 차별화)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074920"/>
            <a:ext cx="3639312" cy="13258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074920"/>
            <a:ext cx="91440" cy="132588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148072"/>
            <a:ext cx="3364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내경 튜브 두께 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22392"/>
            <a:ext cx="3364992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A6F8C"/>
                </a:solidFill>
                <a:latin typeface="Arial"/>
              </a:rPr>
              <a:t>Ø30×1.27T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24728"/>
            <a:ext cx="3364992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Inner tube 두께 1.03T → 1.27T 상향</a:t>
            </a:r>
          </a:p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남미 노면 대응 내구성 강화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5074920"/>
            <a:ext cx="3639312" cy="13258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5074920"/>
            <a:ext cx="91440" cy="132588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5148072"/>
            <a:ext cx="3364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RV+ 밸브 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5422392"/>
            <a:ext cx="3364992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A6F8C"/>
                </a:solidFill>
                <a:latin typeface="Arial"/>
              </a:rPr>
              <a:t>Rear 사양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5824728"/>
            <a:ext cx="3364992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Ride Valve Plus</a:t>
            </a:r>
          </a:p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중속 감쇠력 민감도 개선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0" y="5074920"/>
            <a:ext cx="3639312" cy="13258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5074920"/>
            <a:ext cx="91440" cy="132588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5148072"/>
            <a:ext cx="3364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Part No. 다중화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5422392"/>
            <a:ext cx="3364992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A6F8C"/>
                </a:solidFill>
                <a:latin typeface="Arial"/>
              </a:rPr>
              <a:t>4개 변종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5824728"/>
            <a:ext cx="3364992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SU2 Front ME3579301/F401</a:t>
            </a:r>
          </a:p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F501/F601 동시 운영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65760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0" b="1" i="0">
                <a:solidFill>
                  <a:srgbClr val="D7E55A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37744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맑은 고딕"/>
              </a:rPr>
              <a:t>경쟁사 비교 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3200400"/>
            <a:ext cx="7315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Competitor Analysis  |  ZF · Mando · Bilstein vs. Tenneco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2179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7E55A"/>
                </a:solidFill>
                <a:latin typeface="Arial"/>
              </a:rPr>
              <a:t>TENNECO × HYUNDAI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Arial"/>
              </a:rPr>
              <a:t>— 19 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경쟁사 비교 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5-1.  경쟁사 개요  |  4대 주요 공급사 프로파일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691640"/>
            <a:ext cx="3703320" cy="2286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3703320" cy="64008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MANDO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3911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만도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874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Korea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68880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맑은 고딕"/>
              </a:rPr>
              <a:t>포지션  |  한국 현지 Tier-1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34640"/>
            <a:ext cx="33375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현대/기아 메인 공급사. 가격·대응력 우위. 2-valve 등 신기술 대응 어려움.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0248" y="1691640"/>
            <a:ext cx="3703320" cy="2286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0248" y="1691640"/>
            <a:ext cx="3703320" cy="64008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ZF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203911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ZF Friedrichshafen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1874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Germany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2468880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맑은 고딕"/>
              </a:rPr>
              <a:t>포지션  |  글로벌 Tier-1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834640"/>
            <a:ext cx="33375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Ioniq6·Genesis Entry ECS 공급. 고성능 인지도 최상. 가격 高, Air Shock 미지원.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1691640"/>
            <a:ext cx="3703320" cy="2286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83296" y="1691640"/>
            <a:ext cx="3703320" cy="64008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173736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BILSTEIN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203911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Bilstein (thyssenkrupp)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32136" y="1874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Germany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1896" y="2468880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맑은 고딕"/>
              </a:rPr>
              <a:t>포지션  |  프리미엄 전문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1896" y="2834640"/>
            <a:ext cx="33375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Genesis High-end (Air Shock+ECS) 공급. 2-valve MacPherson 부재.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087368"/>
            <a:ext cx="3703320" cy="2286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087368"/>
            <a:ext cx="3703320" cy="640080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133088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S&amp;T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43484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S&amp;T Motiv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4270248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Korea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864608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맑은 고딕"/>
              </a:rPr>
              <a:t>포지션  |  한국 2nd Tier-1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230368"/>
            <a:ext cx="33375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국내 쇼크업소버 2번째 공급사. 가격 우위. 고성능·신기술 실적 제한적.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70248" y="4087368"/>
            <a:ext cx="3703320" cy="2286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70248" y="4087368"/>
            <a:ext cx="3703320" cy="64008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8848" y="4133088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E4357"/>
                </a:solidFill>
                <a:latin typeface="Arial"/>
              </a:rPr>
              <a:t>TENNECO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98848" y="443484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0E4357"/>
                </a:solidFill>
                <a:latin typeface="맑은 고딕"/>
              </a:rPr>
              <a:t>Tenneco (Monroe)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270248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0E4357"/>
                </a:solidFill>
                <a:latin typeface="Arial"/>
              </a:rPr>
              <a:t>USA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8848" y="4864608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맑은 고딕"/>
              </a:rPr>
              <a:t>포지션  |  CES Business Hyundai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8848" y="5230368"/>
            <a:ext cx="33375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2-valve MacPherson·Double Wishbone 대응. 가격 합리. 고성능 실적 확보 필요.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경쟁사 비교 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5-2.  공급사 비교 매트릭스  |  HMC R&amp;D 관점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14400"/>
                <a:gridCol w="914400"/>
                <a:gridCol w="914400"/>
                <a:gridCol w="3657600"/>
                <a:gridCol w="3657600"/>
              </a:tblGrid>
              <a:tr h="640080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공급사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Office
(한국)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Plant
(한국)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R&amp;D
(한국)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강점 (Strength)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약점 (Weakness)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64008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Mando</a:t>
                      </a:r>
                    </a:p>
                  </a:txBody>
                  <a:tcPr>
                    <a:solidFill>
                      <a:srgbClr val="0E435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빠른 대응력 · 가격 경쟁력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2-valve 등 신기술 부재 / 신규 차종 개발 대응 한계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ZF</a:t>
                      </a:r>
                    </a:p>
                  </a:txBody>
                  <a:tcPr>
                    <a:solidFill>
                      <a:srgbClr val="0E435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고성능 라인 인지도 최상 · 개발 대응력 우수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상대적으로 높은 가격 · Air Shock + ECS 조합 부재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64008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Bilstein</a:t>
                      </a:r>
                    </a:p>
                  </a:txBody>
                  <a:tcPr>
                    <a:solidFill>
                      <a:srgbClr val="0E435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고성능 · 프리미엄 브랜드 이미지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상대적으로 높은 가격 · 2-valve MacPherson 부재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S&amp;T</a:t>
                      </a:r>
                    </a:p>
                  </a:txBody>
                  <a:tcPr>
                    <a:solidFill>
                      <a:srgbClr val="0E435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△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국내 2nd 벤더 · 가격 우위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고성능·신기술 개발 실적 제한적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64008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Tenneco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✕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✕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가격 합리성 (vs ZF/Bilstein) · 2025.4 유럽 Golf 시승 호평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현대 고성능 프로젝트 개발 실적 없음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💡  Tenneco 포지셔닝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E4357"/>
                </a:solidFill>
                <a:latin typeface="맑은 고딕"/>
              </a:rPr>
              <a:t>Plant/R&amp;D 국내 부재 극복이 핵심 과제 → 공격 포인트: 기술 차별성(2-valve) + 가격 합리성 + 유럽 트랙레코드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경쟁사 비교 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5-3.  Hyundai N Brand ECS 공급 현황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4711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463040"/>
                <a:gridCol w="2194560"/>
                <a:gridCol w="1645920"/>
                <a:gridCol w="1280159"/>
                <a:gridCol w="3840480"/>
              </a:tblGrid>
              <a:tr h="548640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Eng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Platform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Model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Damper Type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Supplier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핵심 사항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ICE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B/C 세단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i20 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Conventional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Mando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N.A.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ICE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B/C 세단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i30 N / Veloster 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Semi-active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Mando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Mando ECS 최대치 튜닝 → 추가 마진 부재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ICE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B/C 세단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Avante 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Semi-active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Mando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Mando ECS — dual-valve 미지원 한계 드러남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EV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EV GMP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Ioniq 5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Semi-active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Mando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Ioniq 6 개발 단계에서 한계 표면화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EV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EV GMP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Ioniq 6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Semi-active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ZF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Mando 대체 채택 · HMC 유럽 공급사 편견 해소</a:t>
                      </a:r>
                    </a:p>
                  </a:txBody>
                  <a:tcPr>
                    <a:solidFill>
                      <a:srgbClr val="FFF8D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5074920"/>
            <a:ext cx="11247120" cy="13716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109728" cy="137160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🎯  시사점  |  Mando 독점 체제의 균열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53212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• Ioniq 6 ZF 채택은 2-valve 기술 확보 + 유럽계 공급사 수용성 확대의 이중 시그널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• Tenneco CVSA2 (2-valve + MacPherson 대응)는 Mando가 막지 못한 영역을 정확히 공략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• N Brand에서 입증된 기술은 Genesis 브랜드로 수직 확산되는 HMC 개발 프로세스 존재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경쟁사 비교 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5-4.  Hyundai Genesis Brand ECS 공급 현황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471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1828800"/>
                <a:gridCol w="1371600"/>
                <a:gridCol w="2194560"/>
                <a:gridCol w="3931920"/>
              </a:tblGrid>
              <a:tr h="509451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Eng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Platform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Model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Damper Type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Supplier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핵심 사항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509451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ICE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Sedan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G70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Conventional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Mando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N.A.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ICE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Sedan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G80 (ICE/EV)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Semi-active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ZF (Entry) / Bilstein (High)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Air Shock + ECS — 프리미엄 전략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09451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ICE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Sedan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G90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Semi-active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ZF (Entry) / Bilstein (High)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High-end Bilstein Air Shock+ECS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ICE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SUV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GV70 (ICE/EV)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Semi-active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ZF (Entry) / Bilstein (High)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Air Shock + ECS — SUV 프리미엄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09451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ICE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SUV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GV80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Semi-active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ZF (Entry) / Bilstein (High)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플래그십 SUV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 b="1">
                          <a:solidFill>
                            <a:srgbClr val="0E4357"/>
                          </a:solidFill>
                          <a:latin typeface="맑은 고딕"/>
                        </a:rPr>
                        <a:t>EV</a:t>
                      </a:r>
                    </a:p>
                  </a:txBody>
                  <a:tcPr>
                    <a:solidFill>
                      <a:srgbClr val="E8F0F3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EV GMP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GV60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Semi-active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Mando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100">
                          <a:solidFill>
                            <a:srgbClr val="2B2B2B"/>
                          </a:solidFill>
                          <a:latin typeface="맑은 고딕"/>
                        </a:rPr>
                        <a:t>Ioniq 5 리소스 공용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5349240"/>
            <a:ext cx="11247120" cy="109728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13248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D7E55A"/>
                </a:solidFill>
                <a:latin typeface="맑은 고딕"/>
              </a:rPr>
              <a:t>🏆  HMC 프리미엄 전략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BMW/Benz/Bentley 대응 목적의 Air Suspension 도입 → 공급가 아닌 품질 우선으로 ZF·Bilstein 선택.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Tenneco가 CVSA2 기술 + 프리미엄 사양 확보 시 G80/GV70 Entry-Level ZF 대체 가능성 존재.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경쟁사 비교 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5-5.  북미 경쟁사 Plant 분포  |  ZF · Mando · S&amp;T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65760" y="1600200"/>
            <a:ext cx="6583680" cy="466344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4944" y="1833372"/>
            <a:ext cx="5793638" cy="1399032"/>
          </a:xfrm>
          <a:prstGeom prst="roundRect">
            <a:avLst>
              <a:gd name="adj" fmla="val 20000"/>
            </a:avLst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59812"/>
            <a:ext cx="579363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0E4357"/>
                </a:solidFill>
                <a:latin typeface="Arial"/>
              </a:rPr>
              <a:t>CANADA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2454" y="3372307"/>
            <a:ext cx="5398617" cy="1492300"/>
          </a:xfrm>
          <a:prstGeom prst="roundRect">
            <a:avLst>
              <a:gd name="adj" fmla="val 15000"/>
            </a:avLst>
          </a:prstGeom>
          <a:solidFill>
            <a:srgbClr val="A8C2C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2454" y="3605479"/>
            <a:ext cx="5398617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UNITED STATES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0822" y="5004511"/>
            <a:ext cx="3621024" cy="1025956"/>
          </a:xfrm>
          <a:prstGeom prst="roundRect">
            <a:avLst>
              <a:gd name="adj" fmla="val 15000"/>
            </a:avLst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0822" y="5237683"/>
            <a:ext cx="36210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0E4357"/>
                </a:solidFill>
                <a:latin typeface="Arial"/>
              </a:rPr>
              <a:t>MEXICO</a:t>
            </a:r>
          </a:p>
        </p:txBody>
      </p:sp>
      <p:sp>
        <p:nvSpPr>
          <p:cNvPr id="15" name="Oval 14"/>
          <p:cNvSpPr/>
          <p:nvPr/>
        </p:nvSpPr>
        <p:spPr>
          <a:xfrm>
            <a:off x="3924604" y="3430828"/>
            <a:ext cx="256032" cy="256032"/>
          </a:xfrm>
          <a:prstGeom prst="ellipse">
            <a:avLst/>
          </a:prstGeom>
          <a:solidFill>
            <a:srgbClr val="0E43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24604" y="3430828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187952" y="4176979"/>
            <a:ext cx="256032" cy="256032"/>
          </a:xfrm>
          <a:prstGeom prst="ellipse">
            <a:avLst/>
          </a:prstGeom>
          <a:solidFill>
            <a:srgbClr val="0E43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87952" y="4176979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858768" y="4270248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58768" y="4270248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2871216" y="5296204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71216" y="5296204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Oval 22"/>
          <p:cNvSpPr/>
          <p:nvPr/>
        </p:nvSpPr>
        <p:spPr>
          <a:xfrm>
            <a:off x="2739542" y="5202936"/>
            <a:ext cx="256032" cy="256032"/>
          </a:xfrm>
          <a:prstGeom prst="ellipse">
            <a:avLst/>
          </a:prstGeom>
          <a:solidFill>
            <a:srgbClr val="0E43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39542" y="5202936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3661257" y="3524097"/>
            <a:ext cx="256032" cy="256032"/>
          </a:xfrm>
          <a:prstGeom prst="ellipse">
            <a:avLst/>
          </a:prstGeom>
          <a:solidFill>
            <a:srgbClr val="E8A83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61257" y="3524097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Oval 26"/>
          <p:cNvSpPr/>
          <p:nvPr/>
        </p:nvSpPr>
        <p:spPr>
          <a:xfrm>
            <a:off x="3792931" y="3617366"/>
            <a:ext cx="256032" cy="256032"/>
          </a:xfrm>
          <a:prstGeom prst="ellipse">
            <a:avLst/>
          </a:prstGeom>
          <a:solidFill>
            <a:srgbClr val="D7E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92931" y="3617366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0E4357"/>
                </a:solidFill>
                <a:latin typeface="Arial"/>
              </a:rPr>
              <a:t>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1600200"/>
            <a:ext cx="4663440" cy="41148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0" y="1600200"/>
            <a:ext cx="4663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7E55A"/>
                </a:solidFill>
                <a:latin typeface="맑은 고딕"/>
              </a:rPr>
              <a:t>주요 북미 거점 (#번호 = 지도 마커)</a:t>
            </a:r>
          </a:p>
        </p:txBody>
      </p:sp>
      <p:sp>
        <p:nvSpPr>
          <p:cNvPr id="31" name="Oval 30"/>
          <p:cNvSpPr/>
          <p:nvPr/>
        </p:nvSpPr>
        <p:spPr>
          <a:xfrm>
            <a:off x="7269480" y="2185416"/>
            <a:ext cx="292608" cy="292608"/>
          </a:xfrm>
          <a:prstGeom prst="ellipse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69480" y="2185416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62672" y="2185416"/>
            <a:ext cx="868680" cy="292608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62672" y="2185416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ZF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2103120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Detroit, MI (USA)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2331720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Powertrain / Chassis HQ</a:t>
            </a:r>
          </a:p>
        </p:txBody>
      </p:sp>
      <p:sp>
        <p:nvSpPr>
          <p:cNvPr id="37" name="Oval 36"/>
          <p:cNvSpPr/>
          <p:nvPr/>
        </p:nvSpPr>
        <p:spPr>
          <a:xfrm>
            <a:off x="7269480" y="2706623"/>
            <a:ext cx="292608" cy="292608"/>
          </a:xfrm>
          <a:prstGeom prst="ellipse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69480" y="2706623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62672" y="2706623"/>
            <a:ext cx="868680" cy="292608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2706623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ZF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2624327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Gainesville, GA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2852927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Chassis / Suspension</a:t>
            </a:r>
          </a:p>
        </p:txBody>
      </p:sp>
      <p:sp>
        <p:nvSpPr>
          <p:cNvPr id="43" name="Oval 42"/>
          <p:cNvSpPr/>
          <p:nvPr/>
        </p:nvSpPr>
        <p:spPr>
          <a:xfrm>
            <a:off x="7269480" y="3227831"/>
            <a:ext cx="292608" cy="292608"/>
          </a:xfrm>
          <a:prstGeom prst="ellipse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69480" y="3227831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62672" y="3227831"/>
            <a:ext cx="868680" cy="292608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62672" y="3227831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Mando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3145535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Opelika, 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3374135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Shock Absorber Plant</a:t>
            </a:r>
          </a:p>
        </p:txBody>
      </p:sp>
      <p:sp>
        <p:nvSpPr>
          <p:cNvPr id="49" name="Oval 48"/>
          <p:cNvSpPr/>
          <p:nvPr/>
        </p:nvSpPr>
        <p:spPr>
          <a:xfrm>
            <a:off x="7269480" y="3749040"/>
            <a:ext cx="292608" cy="292608"/>
          </a:xfrm>
          <a:prstGeom prst="ellipse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69480" y="3749040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62672" y="3749040"/>
            <a:ext cx="868680" cy="292608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62672" y="3749040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Mando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95360" y="3666744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Monterrey, MX (Arteaga)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0" y="3895344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Shock Absorber</a:t>
            </a:r>
          </a:p>
        </p:txBody>
      </p:sp>
      <p:sp>
        <p:nvSpPr>
          <p:cNvPr id="55" name="Oval 54"/>
          <p:cNvSpPr/>
          <p:nvPr/>
        </p:nvSpPr>
        <p:spPr>
          <a:xfrm>
            <a:off x="7269480" y="4270247"/>
            <a:ext cx="292608" cy="292608"/>
          </a:xfrm>
          <a:prstGeom prst="ellipse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69480" y="4270247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62672" y="4270247"/>
            <a:ext cx="868680" cy="292608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62672" y="4270247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ZF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95360" y="4187951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Arteaga, MX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95360" y="4416551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Cluster Plant</a:t>
            </a:r>
          </a:p>
        </p:txBody>
      </p:sp>
      <p:sp>
        <p:nvSpPr>
          <p:cNvPr id="61" name="Oval 60"/>
          <p:cNvSpPr/>
          <p:nvPr/>
        </p:nvSpPr>
        <p:spPr>
          <a:xfrm>
            <a:off x="7269480" y="4791455"/>
            <a:ext cx="292608" cy="292608"/>
          </a:xfrm>
          <a:prstGeom prst="ellipse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69480" y="4791455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662672" y="4791455"/>
            <a:ext cx="868680" cy="292608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62672" y="4791455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S&amp;T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95360" y="4709159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Michigan, USA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0" y="4937759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Chassis Component</a:t>
            </a:r>
          </a:p>
        </p:txBody>
      </p:sp>
      <p:sp>
        <p:nvSpPr>
          <p:cNvPr id="67" name="Oval 66"/>
          <p:cNvSpPr/>
          <p:nvPr/>
        </p:nvSpPr>
        <p:spPr>
          <a:xfrm>
            <a:off x="7269480" y="5312664"/>
            <a:ext cx="292608" cy="292608"/>
          </a:xfrm>
          <a:prstGeom prst="ellipse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69480" y="5312664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E4357"/>
                </a:solidFill>
                <a:latin typeface="Arial"/>
              </a:rPr>
              <a:t>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662672" y="5312664"/>
            <a:ext cx="868680" cy="292608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662672" y="5312664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0E4357"/>
                </a:solidFill>
                <a:latin typeface="Arial"/>
              </a:rPr>
              <a:t>Tenneco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95360" y="5230368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Michigan, USA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95360" y="5458968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R&amp;D + HQ (참고)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경쟁사 비교 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5-6.  남미 경쟁사 Plant 분포  |  ZF · Mando · S&amp;T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65760" y="1600200"/>
            <a:ext cx="6583680" cy="466344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30905" y="2159812"/>
            <a:ext cx="3291840" cy="2564892"/>
          </a:xfrm>
          <a:prstGeom prst="roundRect">
            <a:avLst>
              <a:gd name="adj" fmla="val 15000"/>
            </a:avLst>
          </a:prstGeom>
          <a:solidFill>
            <a:srgbClr val="A8C2C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30905" y="309250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0E4357"/>
                </a:solidFill>
                <a:latin typeface="Arial"/>
              </a:rPr>
              <a:t>BRAZIL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9190" y="4631436"/>
            <a:ext cx="1645920" cy="1399032"/>
          </a:xfrm>
          <a:prstGeom prst="roundRect">
            <a:avLst>
              <a:gd name="adj" fmla="val 20000"/>
            </a:avLst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9190" y="5191048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1" i="0">
                <a:solidFill>
                  <a:srgbClr val="0E4357"/>
                </a:solidFill>
                <a:latin typeface="Arial"/>
              </a:rPr>
              <a:t>ARGENTINA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2454" y="2439619"/>
            <a:ext cx="1316736" cy="2564892"/>
          </a:xfrm>
          <a:prstGeom prst="roundRect">
            <a:avLst>
              <a:gd name="adj" fmla="val 30000"/>
            </a:avLst>
          </a:prstGeom>
          <a:solidFill>
            <a:srgbClr val="C0D4DC"/>
          </a:solidFill>
          <a:ln w="9525">
            <a:solidFill>
              <a:srgbClr val="1A6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14646" y="2964484"/>
            <a:ext cx="256032" cy="256032"/>
          </a:xfrm>
          <a:prstGeom prst="ellipse">
            <a:avLst/>
          </a:prstGeom>
          <a:solidFill>
            <a:srgbClr val="0E43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4646" y="2964484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4319625" y="3244291"/>
            <a:ext cx="256032" cy="256032"/>
          </a:xfrm>
          <a:prstGeom prst="ellipse">
            <a:avLst/>
          </a:prstGeom>
          <a:solidFill>
            <a:srgbClr val="0E43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9625" y="3244291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4582972" y="3151022"/>
            <a:ext cx="256032" cy="256032"/>
          </a:xfrm>
          <a:prstGeom prst="ellipse">
            <a:avLst/>
          </a:prstGeom>
          <a:solidFill>
            <a:srgbClr val="1A6F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972" y="3151022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2607868" y="4969764"/>
            <a:ext cx="256032" cy="256032"/>
          </a:xfrm>
          <a:prstGeom prst="ellipse">
            <a:avLst/>
          </a:prstGeom>
          <a:solidFill>
            <a:srgbClr val="0E43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7868" y="4969764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Oval 21"/>
          <p:cNvSpPr/>
          <p:nvPr/>
        </p:nvSpPr>
        <p:spPr>
          <a:xfrm>
            <a:off x="4056278" y="3710635"/>
            <a:ext cx="256032" cy="256032"/>
          </a:xfrm>
          <a:prstGeom prst="ellipse">
            <a:avLst/>
          </a:prstGeom>
          <a:solidFill>
            <a:srgbClr val="E8A83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6278" y="3710635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Oval 23"/>
          <p:cNvSpPr/>
          <p:nvPr/>
        </p:nvSpPr>
        <p:spPr>
          <a:xfrm>
            <a:off x="4319625" y="2871216"/>
            <a:ext cx="256032" cy="256032"/>
          </a:xfrm>
          <a:prstGeom prst="ellipse">
            <a:avLst/>
          </a:prstGeom>
          <a:solidFill>
            <a:srgbClr val="D7E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19625" y="2871216"/>
            <a:ext cx="256032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0E4357"/>
                </a:solidFill>
                <a:latin typeface="Arial"/>
              </a:rPr>
              <a:t>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3760" y="1600200"/>
            <a:ext cx="4663440" cy="41148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1600200"/>
            <a:ext cx="4663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7E55A"/>
                </a:solidFill>
                <a:latin typeface="맑은 고딕"/>
              </a:rPr>
              <a:t>주요 남미 거점 (#번호 = 지도 마커)</a:t>
            </a:r>
          </a:p>
        </p:txBody>
      </p:sp>
      <p:sp>
        <p:nvSpPr>
          <p:cNvPr id="28" name="Oval 27"/>
          <p:cNvSpPr/>
          <p:nvPr/>
        </p:nvSpPr>
        <p:spPr>
          <a:xfrm>
            <a:off x="7269480" y="2185416"/>
            <a:ext cx="292608" cy="292608"/>
          </a:xfrm>
          <a:prstGeom prst="ellipse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2185416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2672" y="2185416"/>
            <a:ext cx="868680" cy="292608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62672" y="2185416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ZF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2103120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São Bernardo, Brazil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331720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HQ / Production</a:t>
            </a:r>
          </a:p>
        </p:txBody>
      </p:sp>
      <p:sp>
        <p:nvSpPr>
          <p:cNvPr id="34" name="Oval 33"/>
          <p:cNvSpPr/>
          <p:nvPr/>
        </p:nvSpPr>
        <p:spPr>
          <a:xfrm>
            <a:off x="7269480" y="2706623"/>
            <a:ext cx="292608" cy="292608"/>
          </a:xfrm>
          <a:prstGeom prst="ellipse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9480" y="2706623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62672" y="2706623"/>
            <a:ext cx="868680" cy="292608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62672" y="2706623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ZF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2624327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Sorocaba, Brazil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2852927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Chassis / 전장</a:t>
            </a:r>
          </a:p>
        </p:txBody>
      </p:sp>
      <p:sp>
        <p:nvSpPr>
          <p:cNvPr id="40" name="Oval 39"/>
          <p:cNvSpPr/>
          <p:nvPr/>
        </p:nvSpPr>
        <p:spPr>
          <a:xfrm>
            <a:off x="7269480" y="3227831"/>
            <a:ext cx="292608" cy="292608"/>
          </a:xfrm>
          <a:prstGeom prst="ellipse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69480" y="3227831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62672" y="3227831"/>
            <a:ext cx="868680" cy="292608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62672" y="3227831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Mando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145535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Limeira, Brazil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3374135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Shock Absorber</a:t>
            </a:r>
          </a:p>
        </p:txBody>
      </p:sp>
      <p:sp>
        <p:nvSpPr>
          <p:cNvPr id="46" name="Oval 45"/>
          <p:cNvSpPr/>
          <p:nvPr/>
        </p:nvSpPr>
        <p:spPr>
          <a:xfrm>
            <a:off x="7269480" y="3749040"/>
            <a:ext cx="292608" cy="292608"/>
          </a:xfrm>
          <a:prstGeom prst="ellipse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69480" y="3749040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62672" y="3749040"/>
            <a:ext cx="868680" cy="292608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62672" y="3749040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ZF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3666744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San Francisco, ARG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95360" y="3895344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Chassis / Driveline</a:t>
            </a:r>
          </a:p>
        </p:txBody>
      </p:sp>
      <p:sp>
        <p:nvSpPr>
          <p:cNvPr id="52" name="Oval 51"/>
          <p:cNvSpPr/>
          <p:nvPr/>
        </p:nvSpPr>
        <p:spPr>
          <a:xfrm>
            <a:off x="7269480" y="4270247"/>
            <a:ext cx="292608" cy="292608"/>
          </a:xfrm>
          <a:prstGeom prst="ellipse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69480" y="4270247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62672" y="4270247"/>
            <a:ext cx="868680" cy="292608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62672" y="4270247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S&amp;T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95360" y="4187951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Curitiba, Brazil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95360" y="4416551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Chassis Component</a:t>
            </a:r>
          </a:p>
        </p:txBody>
      </p:sp>
      <p:sp>
        <p:nvSpPr>
          <p:cNvPr id="58" name="Oval 57"/>
          <p:cNvSpPr/>
          <p:nvPr/>
        </p:nvSpPr>
        <p:spPr>
          <a:xfrm>
            <a:off x="7269480" y="4791455"/>
            <a:ext cx="292608" cy="292608"/>
          </a:xfrm>
          <a:prstGeom prst="ellipse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69480" y="4791455"/>
            <a:ext cx="29260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E4357"/>
                </a:solidFill>
                <a:latin typeface="Arial"/>
              </a:rPr>
              <a:t>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62672" y="4791455"/>
            <a:ext cx="868680" cy="292608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62672" y="4791455"/>
            <a:ext cx="8686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>
                <a:solidFill>
                  <a:srgbClr val="0E4357"/>
                </a:solidFill>
                <a:latin typeface="Arial"/>
              </a:rPr>
              <a:t>Tenneco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95360" y="4709159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Cotia, Brazil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95360" y="4937759"/>
            <a:ext cx="32004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현지 거점 (참고)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6309360"/>
            <a:ext cx="11247120" cy="1371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65760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0" b="1" i="0">
                <a:solidFill>
                  <a:srgbClr val="D7E55A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37744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맑은 고딕"/>
              </a:rPr>
              <a:t>CVSA2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3200400"/>
            <a:ext cx="7315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CVSA2 Program  |  Next-Gen 2-Valve Damper for Hyundai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2179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7E55A"/>
                </a:solidFill>
                <a:latin typeface="Arial"/>
              </a:rPr>
              <a:t>TENNECO × HYUNDAI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Arial"/>
              </a:rPr>
              <a:t>— 26 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CVSA2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6-1.  CVSA2 프로그램 배경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645920"/>
            <a:ext cx="5486400" cy="38404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486400" cy="50292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303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CVSA2 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51206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맑은 고딕"/>
              </a:rPr>
              <a:t>Continuously Variable Semi-Active 2nd Gen</a:t>
            </a:r>
          </a:p>
          <a:p>
            <a:pPr algn="l"/>
            <a:r>
              <a:rPr sz="1200" b="0" i="0">
                <a:solidFill>
                  <a:srgbClr val="2B2B2B"/>
                </a:solidFill>
                <a:latin typeface="맑은 고딕"/>
              </a:rPr>
              <a:t/>
            </a:r>
          </a:p>
          <a:p>
            <a:pPr algn="l"/>
            <a:r>
              <a:rPr sz="1200" b="0" i="0">
                <a:solidFill>
                  <a:srgbClr val="2B2B2B"/>
                </a:solidFill>
                <a:latin typeface="맑은 고딕"/>
              </a:rPr>
              <a:t>• Tenneco 2세대 반능동형 감쇠 제어 쇼크업소버</a:t>
            </a:r>
          </a:p>
          <a:p>
            <a:pPr algn="l"/>
            <a:r>
              <a:rPr sz="1200" b="0" i="0">
                <a:solidFill>
                  <a:srgbClr val="2B2B2B"/>
                </a:solidFill>
                <a:latin typeface="맑은 고딕"/>
              </a:rPr>
              <a:t>• 2-Valve (Dual Valve) 시스템 채택</a:t>
            </a:r>
          </a:p>
          <a:p>
            <a:pPr algn="l"/>
            <a:r>
              <a:rPr sz="1200" b="0" i="0">
                <a:solidFill>
                  <a:srgbClr val="2B2B2B"/>
                </a:solidFill>
                <a:latin typeface="맑은 고딕"/>
              </a:rPr>
              <a:t>• MacPherson Strut · Double Wishbone 양방 대응</a:t>
            </a:r>
          </a:p>
          <a:p>
            <a:pPr algn="l"/>
            <a:r>
              <a:rPr sz="1200" b="0" i="0">
                <a:solidFill>
                  <a:srgbClr val="2B2B2B"/>
                </a:solidFill>
                <a:latin typeface="맑은 고딕"/>
              </a:rPr>
              <a:t>• 차량 주행 상태에 따른 감쇠력 실시간 가변</a:t>
            </a:r>
          </a:p>
          <a:p>
            <a:pPr algn="l"/>
            <a:r>
              <a:rPr sz="1200" b="0" i="0">
                <a:solidFill>
                  <a:srgbClr val="2B2B2B"/>
                </a:solidFill>
                <a:latin typeface="맑은 고딕"/>
              </a:rPr>
              <a:t>• ZF · Mando 1-valve 대비 응답성/승차감 우위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5577840" cy="384048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78308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D7E55A"/>
                </a:solidFill>
                <a:latin typeface="맑은 고딕"/>
              </a:rPr>
              <a:t>왜 현대에 필요한가?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359152"/>
            <a:ext cx="164592" cy="16459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5029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Mando 1-valve: 감쇠 세팅 한계 — Ioniq 6에서 ZF로 전환된 이유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926080"/>
            <a:ext cx="164592" cy="16459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852928"/>
            <a:ext cx="5029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차세대 HMC N·Genesis 라인업은 2-valve 필수 요구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493008"/>
            <a:ext cx="164592" cy="16459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419856"/>
            <a:ext cx="5029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ZF 2-valve: 가격 高 · Air Shock 조합 부재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059936"/>
            <a:ext cx="164592" cy="16459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986784"/>
            <a:ext cx="5029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Bilstein 2-valve: MacPherson 대응 제품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626864"/>
            <a:ext cx="164592" cy="16459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553712"/>
            <a:ext cx="5029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→  Tenneco CVSA2가 4사 중 유일하게 모든 조건 충족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80644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🎯  CVSA2 = Hyundai 차세대 Chassis의 '미싱 퍼즐'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E4357"/>
                </a:solidFill>
                <a:latin typeface="맑은 고딕"/>
              </a:rPr>
              <a:t>기술 우위 + 가격 합리성 + 플랫폼 범용성 — 3대 요건을 동시 만족하는 유일한 솔루션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CVSA2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6-2.  CVSA2 기술적 차별화  |  2-Valve System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645920"/>
            <a:ext cx="3657600" cy="4572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3657600" cy="1005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Arial"/>
              </a:rPr>
              <a:t>[ 기존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2B2B2B"/>
                </a:solidFill>
                <a:latin typeface="Arial"/>
              </a:rPr>
              <a:t>Mando 1-Valve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C0392B"/>
                </a:solidFill>
                <a:latin typeface="맑은 고딕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9864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Single valve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7472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C0392B"/>
                </a:solidFill>
                <a:latin typeface="맑은 고딕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00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저속/고속 감쇠 트레이드오프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6908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C0392B"/>
                </a:solidFill>
                <a:latin typeface="맑은 고딕"/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8736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Ioniq 6에서 한계 드러남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C0392B"/>
                </a:solidFill>
                <a:latin typeface="맑은 고딕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68172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Mando ECS 성능 상한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C0392B"/>
                </a:solidFill>
                <a:latin typeface="맑은 고딕"/>
              </a:rPr>
              <a:t>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27608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추가 마진 확보 어려움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1645920"/>
            <a:ext cx="3657600" cy="4572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1645920"/>
            <a:ext cx="3657600" cy="100584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17373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[ 경쟁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1993392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ZF 2-Valve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88036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E8A83E"/>
                </a:solidFill>
                <a:latin typeface="맑은 고딕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289864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Dual valve 채용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47472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E8A83E"/>
                </a:solidFill>
                <a:latin typeface="맑은 고딕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349300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감쇠 분리 제어 가능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06908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E8A83E"/>
                </a:solidFill>
                <a:latin typeface="맑은 고딕"/>
              </a:rPr>
              <a:t>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408736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Genesis/Ioniq 6 채택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66344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E8A83E"/>
                </a:solidFill>
                <a:latin typeface="맑은 고딕"/>
              </a:rPr>
              <a:t>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468172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높은 공급 단가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25780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E8A83E"/>
                </a:solidFill>
                <a:latin typeface="맑은 고딕"/>
              </a:rPr>
              <a:t>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527608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Air Shock 조합 불가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1645920"/>
            <a:ext cx="3657600" cy="100584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17373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0E4357"/>
                </a:solidFill>
                <a:latin typeface="Arial"/>
              </a:rPr>
              <a:t>[ 우리 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1993392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E4357"/>
                </a:solidFill>
                <a:latin typeface="Arial"/>
              </a:rPr>
              <a:t>Tenneco CVSA2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288036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2E8B57"/>
                </a:solidFill>
                <a:latin typeface="맑은 고딕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289864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Dual valve (2-Valve)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347472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2E8B57"/>
                </a:solidFill>
                <a:latin typeface="맑은 고딕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349300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MacPherson + Double Wishbone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06908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2E8B57"/>
                </a:solidFill>
                <a:latin typeface="맑은 고딕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1080" y="408736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가격 합리 (vs ZF/Bilstein)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66344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2E8B57"/>
                </a:solidFill>
                <a:latin typeface="맑은 고딕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41080" y="468172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유럽 시승 호평 (2025.4)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5257800"/>
            <a:ext cx="320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2E8B57"/>
                </a:solidFill>
                <a:latin typeface="맑은 고딕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276088"/>
            <a:ext cx="31089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N Brand → Genesis 확산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355080"/>
            <a:ext cx="11247120" cy="7315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CVSA2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6-3.  Demo Car 검증 현황  |  Target: Ioniq 6 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645920"/>
            <a:ext cx="5394960" cy="237744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D7E55A"/>
                </a:solidFill>
                <a:latin typeface="맑은 고딕"/>
              </a:rPr>
              <a:t>🎯  Target Vehicle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Ioniq 6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D7E55A"/>
                </a:solidFill>
                <a:latin typeface="맑은 고딕"/>
              </a:rPr>
              <a:t>EV GMP Platform · High-Performance EV Sedan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5029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HMC가 Ioniq 5에서 드러난 Mando ECS 한계를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가장 명확히 확인할 수 있는 고성능 N 브랜드 차량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45920"/>
            <a:ext cx="5669280" cy="237744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🧪  Benchmark 구성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194560"/>
            <a:ext cx="1097280" cy="41148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194560"/>
            <a:ext cx="10972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194560"/>
            <a:ext cx="228600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Arial"/>
              </a:rPr>
              <a:t>ZF, 1-valve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395728"/>
            <a:ext cx="411480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현재 Ioniq 6 양산 사양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743200"/>
            <a:ext cx="1097280" cy="411480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2743200"/>
            <a:ext cx="10972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Test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743200"/>
            <a:ext cx="228600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Arial"/>
              </a:rPr>
              <a:t>Mando, 1-valve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944368"/>
            <a:ext cx="411480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현재 Ioniq 5 양산 사양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291840"/>
            <a:ext cx="1097280" cy="41148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3291840"/>
            <a:ext cx="10972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Test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291840"/>
            <a:ext cx="228600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Arial"/>
              </a:rPr>
              <a:t>Tenneco, CVSA2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493008"/>
            <a:ext cx="411480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Tenneco 제안 신규 사양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06240"/>
            <a:ext cx="11247120" cy="219456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206240"/>
            <a:ext cx="109728" cy="21945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297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💪  HMC가 본 Tenneco 강점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782312"/>
            <a:ext cx="164592" cy="16459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70916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CVSA2 2-valve는 MacPherson 및 Double Wishbone 양쪽 적용 가능 (특히 MacPherson에 강점)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102352"/>
            <a:ext cx="164592" cy="16459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2920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경쟁사 대비 합리적 공급가격 (HMC 내부 평가)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422392"/>
            <a:ext cx="164592" cy="16459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34924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유럽 현지 Golf 시승 이후 HMC 엔지니어 긍정 피드백 확보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742431"/>
            <a:ext cx="164592" cy="16459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5669279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현 Mando 1-valve의 성능 한계를 HMC R&amp;D도 인지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6062472"/>
            <a:ext cx="164592" cy="16459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59893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Demo Car 테스트는 RFQ 검증 과정 — ZF와 동등 성능 확인 시 우위 확보 가능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CVSA2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6-4.  Demo Car 검증 일정  |  Namyang R&amp;D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737360"/>
            <a:ext cx="2697480" cy="32004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2697480" cy="9144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26974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D7E55A"/>
                </a:solidFill>
                <a:latin typeface="Arial"/>
              </a:rPr>
              <a:t>CW42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Oct. 13~19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2743200"/>
            <a:ext cx="457200" cy="45720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7432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E4357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샘플 선적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4048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Sample Shipment to HMC Namyang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737360"/>
            <a:ext cx="2697480" cy="32004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1737360"/>
            <a:ext cx="2697480" cy="9144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1828800"/>
            <a:ext cx="26974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D7E55A"/>
                </a:solidFill>
                <a:latin typeface="Arial"/>
              </a:rPr>
              <a:t>CW46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33172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Nov. 11~16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2743200"/>
            <a:ext cx="457200" cy="45720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7432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E4357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01752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전장 설치·커미셔닝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84048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Electric System Installation &amp; Commissioning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1737360"/>
            <a:ext cx="2697480" cy="32004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1737360"/>
            <a:ext cx="2697480" cy="9144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1828800"/>
            <a:ext cx="26974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D7E55A"/>
                </a:solidFill>
                <a:latin typeface="Arial"/>
              </a:rPr>
              <a:t>CW47~49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33172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Nov. 17~Dec.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743200"/>
            <a:ext cx="457200" cy="45720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7432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E4357"/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01752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Demo-Car HW/SW 튜닝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84048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Performance Tuning &amp; Verification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61120" y="1737360"/>
            <a:ext cx="2697480" cy="32004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61120" y="1737360"/>
            <a:ext cx="2697480" cy="9144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0" y="1828800"/>
            <a:ext cx="26974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D7E55A"/>
                </a:solidFill>
                <a:latin typeface="Arial"/>
              </a:rPr>
              <a:t>End of</a:t>
            </a:r>
          </a:p>
          <a:p>
            <a:pPr algn="ctr"/>
            <a:r>
              <a:rPr sz="2000" b="1" i="0">
                <a:solidFill>
                  <a:srgbClr val="D7E55A"/>
                </a:solidFill>
                <a:latin typeface="Arial"/>
              </a:rPr>
              <a:t>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233172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By End of June 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109960" y="2743200"/>
            <a:ext cx="457200" cy="45720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09960" y="27432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E4357"/>
                </a:solidFill>
                <a:latin typeface="Arial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01752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개선안 수립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384048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Develop Improvement Plan → RFQ 준비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120640"/>
            <a:ext cx="11247120" cy="9144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349240"/>
            <a:ext cx="11247120" cy="105156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📍  검증 장소 및 체계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779008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• 샘플 선적지: 남양 HMC R&amp;D (Korea)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• 전담 조직: High Performance Vehicle Engineering Design Team · Chassis Parts Purchasing Team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CVSA2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6-5.  현대에서의 CVSA2 확대 방안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691640"/>
            <a:ext cx="3657600" cy="425196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3657600" cy="100584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0136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7E55A"/>
                </a:solidFill>
                <a:latin typeface="Arial"/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진입 / Foothold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3657600" cy="54864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3383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0E4357"/>
                </a:solidFill>
                <a:latin typeface="Arial"/>
              </a:rPr>
              <a:t>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44368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맑은 고딕"/>
              </a:rPr>
              <a:t>Ioniq 6 N (Demo 차량)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74720"/>
            <a:ext cx="137160" cy="13716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83280"/>
            <a:ext cx="3017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Demo Car 검증 및 RFQ 수주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160520"/>
            <a:ext cx="137160" cy="13716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69080"/>
            <a:ext cx="3017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ZF 1-valve 성능 동등 + 2-valve 우위 입증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846320"/>
            <a:ext cx="137160" cy="13716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3017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N Brand 내 최초 Tenneco 수주 확보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91640"/>
            <a:ext cx="3657600" cy="425196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1691640"/>
            <a:ext cx="3657600" cy="100584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180136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7E55A"/>
                </a:solidFill>
                <a:latin typeface="Arial"/>
              </a:rPr>
              <a:t>STAGE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10312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확장 / Expansion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2697480"/>
            <a:ext cx="3657600" cy="54864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2743200"/>
            <a:ext cx="3383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0E4357"/>
                </a:solidFill>
                <a:latin typeface="Arial"/>
              </a:rPr>
              <a:t>Target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2944368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맑은 고딕"/>
              </a:rPr>
              <a:t>N Brand 추가 모델 + Genesis Entry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3474720"/>
            <a:ext cx="137160" cy="13716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9160" y="3383280"/>
            <a:ext cx="3017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Ioniq 5 N 후속 · Avante N FL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160520"/>
            <a:ext cx="137160" cy="13716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4069080"/>
            <a:ext cx="3017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G80 · GV70 Entry Level ECS 공급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0560" y="4846320"/>
            <a:ext cx="137160" cy="13716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4754880"/>
            <a:ext cx="3017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N Brand → Genesis 수직 확산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1691640"/>
            <a:ext cx="3657600" cy="425196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1691640"/>
            <a:ext cx="3657600" cy="100584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180136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7E55A"/>
                </a:solidFill>
                <a:latin typeface="Arial"/>
              </a:rPr>
              <a:t>STAGE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210312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주류 / Mainstream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2697480"/>
            <a:ext cx="3657600" cy="54864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2743200"/>
            <a:ext cx="3383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0E4357"/>
                </a:solidFill>
                <a:latin typeface="Arial"/>
              </a:rPr>
              <a:t>Target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2944368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맑은 고딕"/>
              </a:rPr>
              <a:t>Genesis High-end + HMC 일반 라인업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3474720"/>
            <a:ext cx="137160" cy="1371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3383280"/>
            <a:ext cx="3017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G90 · GV80 High-end Air Shock + CVSA2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75320" y="4160520"/>
            <a:ext cx="137160" cy="1371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4069080"/>
            <a:ext cx="3017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HMC 대량 모델 (Ioniq 시리즈) 점진 채택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75320" y="4846320"/>
            <a:ext cx="137160" cy="1371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4754880"/>
            <a:ext cx="3017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Tenneco Korea HMC 주력 공급사 포지셔닝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61264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맑은 고딕"/>
              </a:rPr>
              <a:t>2026 (진입) → 2027~2028 (확장) → 2029~ (주류화)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65760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0" b="1" i="0">
                <a:solidFill>
                  <a:srgbClr val="D7E55A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37744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맑은 고딕"/>
              </a:rPr>
              <a:t>현대 공략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3200400"/>
            <a:ext cx="7315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Hyundai Attack Strategy  |  Technology × Relationship ×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2179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7E55A"/>
                </a:solidFill>
                <a:latin typeface="Arial"/>
              </a:rPr>
              <a:t>TENNECO × HYUNDAI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Arial"/>
              </a:rPr>
              <a:t>— 32 —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현대 공략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7-1.  Hyundai ECS Launching Process  |  3-Stage Gate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691640"/>
            <a:ext cx="3566160" cy="420624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3566160" cy="100584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9144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400" b="1" i="0">
                <a:solidFill>
                  <a:srgbClr val="D7E55A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7452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Technology</a:t>
            </a:r>
          </a:p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Showcase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3566160" cy="54864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432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유럽 (독일·벨기에)</a:t>
            </a:r>
          </a:p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Tenneco ↔ Hyundai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290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Arial"/>
              </a:rPr>
              <a:t>Activities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40"/>
            <a:ext cx="30175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Vehicle driving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Technical exchange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029200"/>
            <a:ext cx="301752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120640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Arial"/>
              </a:rPr>
              <a:t>Counterpart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49240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차량 시승 및 기술 교류</a:t>
            </a:r>
          </a:p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고성능 브랜드 선호 VP 대응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691640"/>
            <a:ext cx="3566160" cy="420624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691640"/>
            <a:ext cx="3566160" cy="100584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1828800"/>
            <a:ext cx="9144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400" b="1" i="0">
                <a:solidFill>
                  <a:srgbClr val="D7E55A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187452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Engineering</a:t>
            </a:r>
          </a:p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&amp; Development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2697480"/>
            <a:ext cx="3566160" cy="54864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27432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HKMC R&amp;D (Korea, 화성)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4290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Arial"/>
              </a:rPr>
              <a:t>Activities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749040"/>
            <a:ext cx="30175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Demo car build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Performance test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Internal validation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26280" y="5029200"/>
            <a:ext cx="301752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26280" y="5120640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Arial"/>
              </a:rPr>
              <a:t>Counterpart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5349240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High Performance Vehicle</a:t>
            </a:r>
          </a:p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Engineering Design Team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691640"/>
            <a:ext cx="3566160" cy="420624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691640"/>
            <a:ext cx="3566160" cy="100584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828800"/>
            <a:ext cx="9144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400" b="1" i="0">
                <a:solidFill>
                  <a:srgbClr val="D7E55A"/>
                </a:solidFill>
                <a:latin typeface="Arial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187452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Purchasing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2697480"/>
            <a:ext cx="3566160" cy="54864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7432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HKMC HQ (Korea, 서울)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4290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Arial"/>
              </a:rPr>
              <a:t>Activities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749040"/>
            <a:ext cx="30175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RFQ / RFI</a:t>
            </a:r>
          </a:p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Quotation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21040" y="5029200"/>
            <a:ext cx="301752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321040" y="5120640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Arial"/>
              </a:rPr>
              <a:t>Counterpart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5349240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Chassis Parts</a:t>
            </a:r>
          </a:p>
          <a:p>
            <a:pPr algn="l"/>
            <a:r>
              <a:rPr sz="1000" b="0" i="1">
                <a:solidFill>
                  <a:srgbClr val="555555"/>
                </a:solidFill>
                <a:latin typeface="맑은 고딕"/>
              </a:rPr>
              <a:t>Purchasing Team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E4357"/>
                </a:solidFill>
                <a:latin typeface="맑은 고딕"/>
              </a:rPr>
              <a:t>Validation stage (N Performance) → Sourcing stage (Top-Down to Genesis) — N Brand 검증 제품은 Genesis로 수직 확산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현대 공략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7-2.  공략 Framework  |  3-Axis Strategy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737360"/>
            <a:ext cx="3657600" cy="438912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3657600" cy="109728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7E55A"/>
                </a:solidFill>
                <a:latin typeface="Arial"/>
              </a:rPr>
              <a:t>AXIS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기술 (Technology)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34640"/>
            <a:ext cx="3657600" cy="59436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52928"/>
            <a:ext cx="3291840" cy="5760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2-Valve CVSA2 기술 우위 확정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85031"/>
            <a:ext cx="164592" cy="16459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79"/>
            <a:ext cx="29260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MacPherson·Double Wishbone 양 플랫폼 대응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1"/>
            <a:ext cx="164592" cy="16459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19"/>
            <a:ext cx="29260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경쟁사 대비 dual-valve 유일성 입증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39511"/>
            <a:ext cx="164592" cy="16459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66359"/>
            <a:ext cx="29260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Air Shock + ECS 통합 솔루션 로드맵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1737360"/>
            <a:ext cx="3657600" cy="438912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1737360"/>
            <a:ext cx="3657600" cy="109728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187452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7E55A"/>
                </a:solidFill>
                <a:latin typeface="Arial"/>
              </a:rPr>
              <a:t>AXIS 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148840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관계 (Relationship)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0" y="2834640"/>
            <a:ext cx="3657600" cy="59436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2852928"/>
            <a:ext cx="3291840" cy="5760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HMC 핵심 인물 공략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26280" y="3685031"/>
            <a:ext cx="164592" cy="164592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3611879"/>
            <a:ext cx="29260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VP Manfred Harrer : 유럽계 선호 적극 활용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26280" y="4462271"/>
            <a:ext cx="164592" cy="164592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4389119"/>
            <a:ext cx="29260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Porsche 레퍼런스 강조 (HMC 긍정 인식)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26280" y="5239511"/>
            <a:ext cx="164592" cy="164592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5166359"/>
            <a:ext cx="29260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남양 R&amp;D 엔지니어 유럽 초청 · 시승 프로그램 확대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1737360"/>
            <a:ext cx="3657600" cy="438912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1737360"/>
            <a:ext cx="3657600" cy="109728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187452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D7E55A"/>
                </a:solidFill>
                <a:latin typeface="Arial"/>
              </a:rPr>
              <a:t>AXIS 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148840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맑은 고딕"/>
              </a:rPr>
              <a:t>실행 (Execution)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2834640"/>
            <a:ext cx="3657600" cy="59436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2852928"/>
            <a:ext cx="3291840" cy="5760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N Brand → Genesis 확산 경로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40" y="3685031"/>
            <a:ext cx="164592" cy="16459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3611879"/>
            <a:ext cx="29260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Ioniq 6 N RFQ 수주 (Stage 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4462271"/>
            <a:ext cx="164592" cy="16459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4389119"/>
            <a:ext cx="29260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2026 Demo Car 개선안 6월 확정 → 2027 양산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21040" y="5239511"/>
            <a:ext cx="164592" cy="16459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0" y="5166359"/>
            <a:ext cx="29260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맑은 고딕"/>
              </a:rPr>
              <a:t>Tenneco Korea Plant/R&amp;D 단계별 구축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현대 공략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7-3.  Key Action Items  |  즉시 실행 과제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4711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468880"/>
                <a:gridCol w="4206239"/>
                <a:gridCol w="2286000"/>
                <a:gridCol w="1828800"/>
              </a:tblGrid>
              <a:tr h="685800"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세부 내용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Owner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Timeline</a:t>
                      </a:r>
                    </a:p>
                  </a:txBody>
                  <a:tcPr>
                    <a:solidFill>
                      <a:srgbClr val="1A6F8C"/>
                    </a:solidFill>
                  </a:tcPr>
                </a:tc>
              </a:tr>
              <a:tr h="68580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0E435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Ioniq 6 N Demo Car RFQ 수주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CW47~49 HW/SW 튜닝 → 2026.6 개선안 → RFQ 제출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Tenneco Korea + CES Engineering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2026 Q1~Q2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0E435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유럽 Technology Showcase 확대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남양 엔지니어/HMC 매니저 유럽 초청 시승 (Golf/Porsche 포함)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Tenneco EU + Sales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2026 Q2~Q3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68580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0E435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VP Manfred Harrer 전담 커뮤니케이션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Porsche 레퍼런스 중심 Executive Meeting 분기 1회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Tenneco NA HQ Exec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0E435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N Brand → Genesis 확산 로드맵 제안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Genesis G80/GV70 Entry ECS 2027 전환 시나리오 제시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Tenneco CES Product Planning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2026 Q3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685800"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0E4357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Tenneco Korea 체제 구축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Plant·R&amp;D 부재 극복 — 단계별 현지화 계획 수립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Tenneco Korea 경영진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27432" bIns="27432" wrap="square"/>
                    <a:lstStyle/>
                    <a:p>
                      <a:pPr algn="l"/>
                      <a:r>
                        <a:rPr sz="1000">
                          <a:solidFill>
                            <a:srgbClr val="2B2B2B"/>
                          </a:solidFill>
                          <a:latin typeface="맑은 고딕"/>
                        </a:rPr>
                        <a:t>2026~2028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🏁  Success Metric  |  2026년 말 Ioniq 6 N CVSA2 수주 확정 → 2027년 SOP → 2028 Genesis Entry 확대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65760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0" b="1" i="0">
                <a:solidFill>
                  <a:srgbClr val="D7E55A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37744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맑은 고딕"/>
              </a:rPr>
              <a:t>Tenneco Korea의 단계별 운영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3200400"/>
            <a:ext cx="7315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Tenneco Korea Operation Roadmap  |  Phase 1 · 2 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2179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7E55A"/>
                </a:solidFill>
                <a:latin typeface="Arial"/>
              </a:rPr>
              <a:t>TENNECO × HYUNDAI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Arial"/>
              </a:rPr>
              <a:t>— 36 —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Tenneco Korea 단계별 운영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8-1.  단계별 운영 로드맵  |  Korea Local Capability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691640"/>
            <a:ext cx="3657600" cy="42976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3657600" cy="128016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8308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7E55A"/>
                </a:solidFill>
                <a:latin typeface="Arial"/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맑은 고딕"/>
              </a:rPr>
              <a:t>기반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6032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D7E55A"/>
                </a:solidFill>
                <a:latin typeface="Arial"/>
              </a:rPr>
              <a:t>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3657600" cy="50292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9718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Sales · Engineering 인력 보강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730752"/>
            <a:ext cx="137160" cy="13716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657600"/>
            <a:ext cx="30175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CES 영업 전담팀 + Technical Sales 인력 확충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62272"/>
            <a:ext cx="137160" cy="13716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89120"/>
            <a:ext cx="30175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HMC 남양 R&amp;D 상주 엔지니어 배치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193792"/>
            <a:ext cx="137160" cy="13716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120640"/>
            <a:ext cx="30175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유럽 시승 및 기술 교류 운영 채널 가동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91640"/>
            <a:ext cx="3657600" cy="42976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1691640"/>
            <a:ext cx="3657600" cy="128016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178308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7E55A"/>
                </a:solidFill>
                <a:latin typeface="Arial"/>
              </a:rPr>
              <a:t>PHASE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0574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맑은 고딕"/>
              </a:rPr>
              <a:t>실행 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56032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D7E55A"/>
                </a:solidFill>
                <a:latin typeface="Arial"/>
              </a:rPr>
              <a:t>2027~2028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71800"/>
            <a:ext cx="3657600" cy="50292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29718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Local Engineering Center 설립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26280" y="3730752"/>
            <a:ext cx="137160" cy="13716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3657600"/>
            <a:ext cx="30175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Tenneco Korea Engineering Center 개소 (위치 협의)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26280" y="4462272"/>
            <a:ext cx="137160" cy="13716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4389120"/>
            <a:ext cx="30175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Ioniq 6 N SOP 지원 및 차종 확장 대응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6280" y="5193792"/>
            <a:ext cx="137160" cy="137160"/>
          </a:xfrm>
          <a:prstGeom prst="rect">
            <a:avLst/>
          </a:prstGeom>
          <a:solidFill>
            <a:srgbClr val="125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5120640"/>
            <a:ext cx="30175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Genesis Entry Level 사전 대응 R&amp;D 수행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1691640"/>
            <a:ext cx="3657600" cy="42976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1691640"/>
            <a:ext cx="3657600" cy="12801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1783080"/>
            <a:ext cx="3291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7E55A"/>
                </a:solidFill>
                <a:latin typeface="Arial"/>
              </a:rPr>
              <a:t>PHASE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20574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맑은 고딕"/>
              </a:rPr>
              <a:t>현지화 완성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6032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D7E55A"/>
                </a:solidFill>
                <a:latin typeface="Arial"/>
              </a:rPr>
              <a:t>2029~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2971800"/>
            <a:ext cx="3657600" cy="502920"/>
          </a:xfrm>
          <a:prstGeom prst="rect">
            <a:avLst/>
          </a:prstGeom>
          <a:solidFill>
            <a:srgbClr val="E8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5320" y="29718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Local Plant + R&amp;D 운영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1040" y="3730752"/>
            <a:ext cx="137160" cy="1371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49640" y="3657600"/>
            <a:ext cx="30175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현대/기아 신차 개발 초기부터 Tier-1 참여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21040" y="4462272"/>
            <a:ext cx="137160" cy="1371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49640" y="4389120"/>
            <a:ext cx="30175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국내 공장·R&amp;D 동시 운영으로 Mando 수준 대응력 확보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5193792"/>
            <a:ext cx="137160" cy="1371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9640" y="5120640"/>
            <a:ext cx="30175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맑은 고딕"/>
              </a:rPr>
              <a:t>연간 5개 이상 HMC 프로그램 동시 공급 체제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6172200"/>
            <a:ext cx="11247120" cy="22860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0584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0116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맑은 고딕"/>
              </a:rPr>
              <a:t>Tenneco Korea 단계별 운영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0E4357"/>
                </a:solidFill>
                <a:latin typeface="맑은 고딕"/>
              </a:rPr>
              <a:t>8-2.  조직 · 리소스 · 투자 계획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1325880"/>
            <a:ext cx="11274552" cy="0"/>
          </a:xfrm>
          <a:prstGeom prst="line">
            <a:avLst/>
          </a:prstGeom>
          <a:ln w="25400">
            <a:solidFill>
              <a:srgbClr val="D7E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1645920"/>
            <a:ext cx="5669280" cy="475488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669280" cy="45720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🏢  조직 구성 (Target 2027)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91440" cy="50292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94560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Korea Country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450592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총괄 · HMC Key Account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2267712"/>
            <a:ext cx="1097280" cy="3657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267712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1명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16352"/>
            <a:ext cx="91440" cy="50292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16352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CES Sales &amp; Marketing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072384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영업·MKT·Technical Sales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2889504"/>
            <a:ext cx="1097280" cy="3657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889504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6명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38144"/>
            <a:ext cx="91440" cy="50292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38144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Engineering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94176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남양 상주 + 자체 Lab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3511296"/>
            <a:ext cx="1097280" cy="3657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3511296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12명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059936"/>
            <a:ext cx="91440" cy="50292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059936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Program Mgmt (PMO)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315968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5개 HMC 프로젝트 동시 관리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4133088"/>
            <a:ext cx="1097280" cy="3657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133088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4명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681728"/>
            <a:ext cx="91440" cy="50292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681728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Quality &amp; SQA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937760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HMC 품질 기준 대응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754880"/>
            <a:ext cx="1097280" cy="3657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6320" y="475488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3명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303520"/>
            <a:ext cx="91440" cy="502920"/>
          </a:xfrm>
          <a:prstGeom prst="rect">
            <a:avLst/>
          </a:prstGeom>
          <a:solidFill>
            <a:srgbClr val="1A6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303520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E4357"/>
                </a:solidFill>
                <a:latin typeface="맑은 고딕"/>
              </a:rPr>
              <a:t>Local Plant (Phase3)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559552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브라질·중국 플랜트 Mirror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5376672"/>
            <a:ext cx="1097280" cy="3657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0" y="5376672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TBD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1645920"/>
            <a:ext cx="5394960" cy="2286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17373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D7E55A"/>
                </a:solidFill>
                <a:latin typeface="맑은 고딕"/>
              </a:rPr>
              <a:t>💰  투자 우선순위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2267712"/>
            <a:ext cx="137160" cy="1371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0840" y="2194560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[1] HMC 남양 상주 Engineering — 2026 Q1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2578608"/>
            <a:ext cx="137160" cy="1371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20840" y="2505456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[2] Korea Technical Office (강남/판교) — 2026 Q2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2889504"/>
            <a:ext cx="137160" cy="1371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0840" y="2816352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[3] CVSA2 시험/분석 장비 — 2026 Q3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3200400"/>
            <a:ext cx="137160" cy="1371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20840" y="3127248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[4] Local Engineering Center — 2027 H1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92240" y="3511296"/>
            <a:ext cx="137160" cy="13716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20840" y="3438144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[5] Local Plant Feasibility — 2028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069080"/>
            <a:ext cx="5394960" cy="233172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41605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E4357"/>
                </a:solidFill>
                <a:latin typeface="맑은 고딕"/>
              </a:rPr>
              <a:t>📊  핵심 KPI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92240" y="4572000"/>
            <a:ext cx="822960" cy="3657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4572000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D7E55A"/>
                </a:solidFill>
                <a:latin typeface="Arial"/>
              </a:rPr>
              <a:t>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06640" y="4617720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Ioniq 6 N RFQ 수주 · Demo 검증 완료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5010912"/>
            <a:ext cx="822960" cy="3657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92240" y="5010912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D7E55A"/>
                </a:solidFill>
                <a:latin typeface="Arial"/>
              </a:rPr>
              <a:t>2027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5056632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Genesis Entry ECS 1~2개 모델 수주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92240" y="5449824"/>
            <a:ext cx="822960" cy="3657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5449824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D7E55A"/>
                </a:solidFill>
                <a:latin typeface="Arial"/>
              </a:rPr>
              <a:t>2028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06640" y="5495544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HMC 연매출 USD 100M 돌파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5888736"/>
            <a:ext cx="822960" cy="36576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5888736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D7E55A"/>
                </a:solidFill>
                <a:latin typeface="Arial"/>
              </a:rPr>
              <a:t>2029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5934456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0E4357"/>
                </a:solidFill>
                <a:latin typeface="맑은 고딕"/>
              </a:rPr>
              <a:t>HMC Top-3 Chassis 공급사 진입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656539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0" y="6565392"/>
            <a:ext cx="1828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1A6F8C"/>
                </a:solidFill>
                <a:latin typeface="Arial"/>
              </a:rPr>
              <a:t>TENNECO × HYUNDAI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12880" y="6565392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65760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0" b="1" i="0">
                <a:solidFill>
                  <a:srgbClr val="D7E55A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37744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맑은 고딕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3200400"/>
            <a:ext cx="7315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7E55A"/>
                </a:solidFill>
                <a:latin typeface="Arial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2179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7E55A"/>
                </a:solidFill>
                <a:latin typeface="Arial"/>
              </a:rPr>
              <a:t>TENNECO × HYUNDAI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D7E55A"/>
                </a:solidFill>
                <a:latin typeface="Arial"/>
              </a:rPr>
              <a:t>— 39 —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73152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0" b="1" i="0">
                <a:solidFill>
                  <a:srgbClr val="D7E55A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834640"/>
            <a:ext cx="1219169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 i="1">
                <a:solidFill>
                  <a:srgbClr val="D7E55A"/>
                </a:solidFill>
                <a:latin typeface="Arial"/>
              </a:rPr>
              <a:t>Tenneco × Hyundai Motor 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Next-Gen Chassis Partnership · 2026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solidFill>
            <a:srgbClr val="D7E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E4357"/>
                </a:solidFill>
                <a:latin typeface="Arial"/>
              </a:rPr>
              <a:t>TENNECO — RIDE ENGINEERED FOR HYUNDAI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맑은 고딕"/>
              </a:rPr>
              <a:t>General Business – Tenneco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6492240"/>
            <a:ext cx="502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