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5303520"/>
            <a:ext cx="14630400" cy="1097280"/>
          </a:xfrm>
          <a:prstGeom prst="parallelogram">
            <a:avLst>
              <a:gd name="adj" fmla="val 6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12191695" cy="4572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Arial"/>
              </a:rPr>
              <a:t>TENNECO INTERNAL SEMINAR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Hyundai Motor Group 프로젝트 현황 및 공략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0" i="0">
                <a:solidFill>
                  <a:srgbClr val="D7E55A"/>
                </a:solidFill>
                <a:latin typeface="Arial"/>
              </a:rPr>
              <a:t>Tenneco × Hyundai : Current Business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글로벌 시장 현황  ·  공급 프로그램  ·  경쟁사 비교  ·  CVSA2 확대  ·  운영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Tenneco Korea – Hyundai/Kia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D7E55A"/>
                </a:solidFill>
                <a:latin typeface="맑은 고딕"/>
              </a:rPr>
              <a:t>대한민국 · Tenneco 본사 세미나 발표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097280"/>
            <a:ext cx="2011680" cy="2286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0" b="1" i="0">
                <a:solidFill>
                  <a:srgbClr val="1A6F8C"/>
                </a:solidFill>
                <a:latin typeface="Arial"/>
              </a:rPr>
              <a:t>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7E55A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918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291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Project</a:t>
            </a:r>
          </a:p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D7E55A"/>
                </a:solidFill>
                <a:latin typeface="Arial"/>
              </a:rPr>
              <a:t>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8686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8686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82296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17043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Global Market Share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0640" y="138988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6479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N.America &amp; S.America Market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198424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89120" y="2057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1168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5915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Tenneco Business Ratio in Hyundai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20640" y="257860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89120" y="2651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651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60604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Tenneco의 현대 공급 프로그램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95351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Supply Program (China · India · Brazil)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317296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89120" y="3246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246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20040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경쟁사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54787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Competitor Analysis (Mando · ZF · Bilstein)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0" y="376732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89120" y="3840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8404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79476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CVSA2 프로그램 확대 방안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14223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CVSA2 Program &amp; Expansion Plan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436168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389120" y="44348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44348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38912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73659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Hyundai Winning Strategy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495604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389120" y="5029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50292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98348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Tenneco Korea의 단계별 운영 방안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533095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Tenneco Korea Operating Roadmap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120640" y="5550408"/>
            <a:ext cx="6766559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389120" y="5623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56235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E4357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577840"/>
            <a:ext cx="68580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E4357"/>
                </a:solidFill>
                <a:latin typeface="맑은 고딕"/>
              </a:rPr>
              <a:t>Q &amp;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925312"/>
            <a:ext cx="6858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Discussion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Global Market Share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3 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글로벌 시장 판매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1. Hyundai Global Market Share  |  2025년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2025 현대차 글로벌 판매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414만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대 (Total Sales)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최대 판매 지역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아시아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146만 대 (35.3%)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핵심 전략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아메리카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134만 대 (32.4%)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554480"/>
            <a:ext cx="2560320" cy="1188720"/>
          </a:xfrm>
          <a:prstGeom prst="roundRect">
            <a:avLst>
              <a:gd name="adj" fmla="val 10000"/>
            </a:avLst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기준 연도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993392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5146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맑은 고딕"/>
              </a:rPr>
              <a:t>Year of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E4357"/>
                </a:solidFill>
                <a:latin typeface="맑은 고딕"/>
              </a:rPr>
              <a:t>■ 2025년 현대자동차 지역별 판매 현황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3337560"/>
          <a:ext cx="68579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09"/>
                <a:gridCol w="3117272"/>
                <a:gridCol w="1603168"/>
                <a:gridCol w="890649"/>
              </a:tblGrid>
              <a:tr h="42672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국가 및 거점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판매 수량 (추정)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아메리카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미국, 캐나다, 브라질(HMB), 멕시코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134만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아시아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한국(내수), 인도, 베트남, 인도네시아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146만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35.3%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유럽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독일, 영국, 프랑스 등 EU 지역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61만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중동, 아프리카, 러시아, 호주 등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73만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17.6%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267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전 세계 시장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414만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589520" y="2926080"/>
            <a:ext cx="4160520" cy="30175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301752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Arial"/>
              </a:rPr>
              <a:t>TENNECO GLOBAL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33756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전 세계 공급 역량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74903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60,000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82219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Global Team 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25195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184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2511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Manufacturing Plants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754879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828031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Distribution Centers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525780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2200" b="1" i="0">
                <a:solidFill>
                  <a:srgbClr val="D7E55A"/>
                </a:solidFill>
                <a:latin typeface="Arial"/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330952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Engineering Facilities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0E4357"/>
                </a:solidFill>
                <a:latin typeface="맑은 고딕"/>
              </a:rPr>
              <a:t>Insight  ·  현대차는 지정학적 리스크와 경기 변동 속에서도 북미 최대 실적 및 인도 시장 성장을 통해 글로벌 판매 비중을 성공적으로 다변화했다.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N.America &amp; S.America Market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5 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2-1. Hyundai N.America &amp; S.America Market  |  국가별 판매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2025년 현대자동차 핵심 국가별 판매 현황 (글로벌 134만 대 기준)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65960"/>
          <a:ext cx="6583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651760"/>
                <a:gridCol w="1828800"/>
                <a:gridCol w="1097280"/>
              </a:tblGrid>
              <a:tr h="483325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국가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판매 수량 (추정)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글로벌 비중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미국 (USA)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90.2만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캐나다 (Canada)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14.1만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3.4%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북미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멕시코 (Mexico)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5.1만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남미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브라질 (HMB)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18.5만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4.5%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83325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기타 아메리카 국가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6.1만 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아메리카 전체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약 134.0만 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32.4%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판매량 시각화 (만 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미국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84832"/>
            <a:ext cx="2804281" cy="25603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62481" y="201168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90.2만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브라질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633472"/>
            <a:ext cx="575157" cy="25603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3357" y="25603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18.5만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0896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캐나다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182112"/>
            <a:ext cx="438363" cy="25603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6563" y="31089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14.1만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5760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기타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730752"/>
            <a:ext cx="189646" cy="256032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7846" y="3657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6.1만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06240"/>
            <a:ext cx="1051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  <a:latin typeface="맑은 고딕"/>
              </a:rPr>
              <a:t>멕시코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279392"/>
            <a:ext cx="158556" cy="256032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6756" y="42062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5.1만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23560"/>
            <a:ext cx="11274552" cy="8229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KEY 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아메리카 판매의 67%가 미국에 집중 (90.2만 대). 브라질·멕시코의 현지 생산 기반(HMB)은 Tenneco 공급 확장의 핵심 레버리지.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북미 및 남미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2-2. GM · Toyota · Hyundai 판매량 비교  |  2025년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3749039" cy="34747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DOMINANT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320 ~ 340만 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북미 1위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대형 픽업트럭과 SUV 중심의 압도적 시장 지배력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645920"/>
            <a:ext cx="3749039" cy="34747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HYBRID POWERHOUSE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TOYOTA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280 ~ 300만 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하이브리드 1위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하이브리드 절대 강자. 북미·남미 모두에서 높은 신뢰도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8" y="1645920"/>
            <a:ext cx="3749039" cy="34747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8" y="18288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FASTEST GROWING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2148840"/>
            <a:ext cx="3383279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HYUNDAI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38" y="2971800"/>
            <a:ext cx="731520" cy="36576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8" y="310896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아메리카 총 판매량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8" y="3383280"/>
            <a:ext cx="3383279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약 134만 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8" y="3886200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맑은 고딕"/>
              </a:rPr>
              <a:t>시장 지위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114800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성장세 1위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4480560"/>
            <a:ext cx="3383279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전기차 및 SUV 라인업 강화를 통해 추격 중. Tenneco의 주력 고객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74552" cy="10972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■ 전략적 해석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현대차는 GM·Toyota 대비 절대 판매량은 낮지만 성장률·전동화 속도·신규 플랫폼(EV GMP) 기준으로 가장 공격적. Tenneco 입장에서 중장기 볼륨 확대 여지가 가장 큰 OEM.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Tenneco Business Ratio in Hyundai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8 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현대에서의 Tenneco 점유율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3. Tenneco Business Ratio in Hyundai  |  공급사별 점유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현대/기아 섀시 댐퍼 공급사 점유율 (추정)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85032" cy="5486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685032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Mando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2232" y="2103120"/>
            <a:ext cx="1020470" cy="54864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103120"/>
            <a:ext cx="102047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ZF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2702" y="2103120"/>
            <a:ext cx="566928" cy="54864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2702" y="2103120"/>
            <a:ext cx="566928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Bilstein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29630" y="2103120"/>
            <a:ext cx="396849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9630" y="2103120"/>
            <a:ext cx="396849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맑은 고딕"/>
              </a:rPr>
              <a:t>Tenneco</a:t>
            </a:r>
          </a:p>
          <a:p>
            <a:pPr algn="ctr"/>
            <a:r>
              <a:rPr sz="1100" b="1" i="0">
                <a:solidFill>
                  <a:srgbClr val="0E4357"/>
                </a:solidFill>
                <a:latin typeface="맑은 고딕"/>
              </a:rPr>
              <a:t>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* 추정치: Mando 국내 현대/기아 기본 섀시 독점 + ZF(Genesis/Ioniq6 N) · Bilstein(High-end) · Tenneco(초기 진입)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■ 공급 영역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371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Mando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6118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현대/기아 기본 섀시의 대부분 (ICE/EV 공용 Conventional + Semi-active)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37160" cy="3657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ZF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02336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Genesis Entry-Level, Ioniq6 N (Semi-active ECS)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137160" cy="36576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348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Bilstein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43484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Genesis High-end (Air shock + ECS) 전용 포지션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3716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4632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Tenneco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8463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초기 진입 단계 — CVSA2 Demo Car 검증 단계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554480"/>
            <a:ext cx="5330952" cy="438912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01168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Tenneco의 점유 확장 여지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0" y="2743200"/>
            <a:ext cx="1645920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0" y="29260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2-Valve MacPherson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20040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현대가 차기 제품에 요구하는 핵심 기술 — Tenneco만 보유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538728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가격 경쟁력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813048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ZF·Bilstein 대비 HMC가 합리적이라 평가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51376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Golf 유럽 시승 호평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425696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2025년 4월 HMC 엔지니어 긍정 반응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764024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VP Manfred Harrer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5038344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유럽 공급사 선호 기조 확립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76672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▲ N → Genesis 수직 확산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65099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N Brand 검증 시 Genesis 자동 이관 구조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현재 Tenneco 점유율은 한 자릿수 초기 진입. CVSA2 Ioniq6 N RFQ 확정 시 두 자릿수 급상승 가능.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Tenneco Hyundai Supply Programs  |  China · India · Brazil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10 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4-1.  지역별 공급 프로그램 Overview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3657600" cy="91440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7E55A"/>
                </a:solidFill>
                <a:latin typeface="Arial"/>
              </a:rPr>
              <a:t>CHINA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중국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3657600" cy="30175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A6F8C"/>
                </a:solidFill>
                <a:latin typeface="Arial"/>
              </a:rPr>
              <a:t>5개 프로젝트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20" y="3383280"/>
            <a:ext cx="2194560" cy="0"/>
          </a:xfrm>
          <a:prstGeom prst="line">
            <a:avLst/>
          </a:prstGeom>
          <a:ln w="19050">
            <a:solidFill>
              <a:srgbClr val="1A6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520440"/>
            <a:ext cx="3291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맑은 고딕"/>
              </a:rPr>
              <a:t>IX25 · Verna · Elantra 6th · Elantra PHEV · Elantra 7th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2014~2023 누적 공급 / Shock Absorber MTV·MTV CL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657600" cy="91440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745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7E55A"/>
                </a:solidFill>
                <a:latin typeface="Arial"/>
              </a:rPr>
              <a:t>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9456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인도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651760"/>
            <a:ext cx="3657600" cy="30175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2556E"/>
                </a:solidFill>
                <a:latin typeface="Arial"/>
              </a:rPr>
              <a:t>2개 프로젝트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0" y="3383280"/>
            <a:ext cx="2194560" cy="0"/>
          </a:xfrm>
          <a:prstGeom prst="line">
            <a:avLst/>
          </a:prstGeom>
          <a:ln w="19050">
            <a:solidFill>
              <a:srgbClr val="125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60" y="3520440"/>
            <a:ext cx="3291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맑은 고딕"/>
              </a:rPr>
              <a:t>Venue (QXI 2019) · Elite (BI3 2020)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MTV 밸브 적용 / 인도 현지 수요 대응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737360"/>
            <a:ext cx="3657600" cy="9144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8745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7E55A"/>
                </a:solidFill>
                <a:latin typeface="Arial"/>
              </a:rPr>
              <a:t>BRAZIL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19456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브라질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651760"/>
            <a:ext cx="3657600" cy="30175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0E4357"/>
                </a:solidFill>
                <a:latin typeface="Arial"/>
              </a:rPr>
              <a:t>3개 프로젝트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0" y="3383280"/>
            <a:ext cx="2194560" cy="0"/>
          </a:xfrm>
          <a:prstGeom prst="line">
            <a:avLst/>
          </a:prstGeom>
          <a:ln w="19050">
            <a:solidFill>
              <a:srgbClr val="0E4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3520440"/>
            <a:ext cx="329184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맑은 고딕"/>
              </a:rPr>
              <a:t>HB20 (BR2 2022) · Creta (SU2b 2023) · BC4b (개발중)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75488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맑은 고딕"/>
              </a:rPr>
              <a:t>MTV + RV+ 듀얼 사양 / 남미 전용 튜닝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E4357"/>
                </a:solidFill>
                <a:latin typeface="맑은 고딕"/>
              </a:rPr>
              <a:t>총 10개 현대 프로그램 공급 중 · 3대륙 동시 대응 체제 구축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4-2.  China Project List  |  중국 프로젝트 5종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3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2709609"/>
                <a:gridCol w="1693506"/>
                <a:gridCol w="1693506"/>
                <a:gridCol w="3387012"/>
              </a:tblGrid>
              <a:tr h="47752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Project Code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Vehicle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SOP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EOP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GC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IX25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2014.10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2017.10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1세대 CUV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GC PE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IX25 (PE)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2017.10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2019.05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Phase Enhancement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YC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Verna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2016.10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B세그먼트 세단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YC FL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Verna (FL)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2022.03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Face-lift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ADC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Elantra 领动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2016.03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6세대 세단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ADC PE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Elantra 领动 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2019.03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2020.10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Phase Enhancement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ADC PHEV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Elantra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하이브리드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CN7c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Elantra 7th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2020.10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7세대 현행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E4357"/>
                </a:solidFill>
                <a:latin typeface="맑은 고딕"/>
              </a:rPr>
              <a:t>중국은 Tenneco의 현대 공급 베이스가 가장 두터운 지역. 2014년부터 연속 세대 공급 이어옴.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4-3.  India &amp; Brazil Project 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1600200"/>
            <a:ext cx="544068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440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INDIA  |  인도 — 2개 프로젝트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57400"/>
          <a:ext cx="5440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1943100"/>
                <a:gridCol w="1010412"/>
                <a:gridCol w="1554480"/>
              </a:tblGrid>
              <a:tr h="60960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Code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Vehicle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SOP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6096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QXI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2019.05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소형 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BI3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Elite i20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2020.10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해치백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72200" y="1600200"/>
            <a:ext cx="5440680" cy="41148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5440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BRAZIL  |  브라질 — 3개 프로젝트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2057400"/>
          <a:ext cx="54406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/>
                <a:gridCol w="1709928"/>
                <a:gridCol w="1010412"/>
                <a:gridCol w="1787651"/>
              </a:tblGrid>
              <a:tr h="54864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Code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Vehicle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SOP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BR2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HB20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2022.06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해치백 (현지모델)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SU2b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Creta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2023~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소형 SUV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SU2b PE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Creta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2024.12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Phase Enhancement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BC4b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2026~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개발중 (In development)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303520"/>
            <a:ext cx="109728" cy="10972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💡  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7899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신흥시장 (인도·브라질) 중심으로 현대 현지 생산 모델 지속 수주 중.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BC4b 2026년 양산 예정 → 브라질 공급량 추가 확대 전망.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4-4.  Program Vehicle Volume (2023–2027)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719072"/>
                <a:gridCol w="1719072"/>
                <a:gridCol w="1719072"/>
                <a:gridCol w="1719072"/>
                <a:gridCol w="1719072"/>
              </a:tblGrid>
              <a:tr h="53340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Project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2025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2026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2027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334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India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BI3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81,600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80,450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80,710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India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Qxi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138,300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116,370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57,850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334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Brazil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BR2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137,600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148,800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145,800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30,500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Brazil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SU2b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70,200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73,000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43,000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334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 b="1">
                          <a:solidFill>
                            <a:srgbClr val="0E4357"/>
                          </a:solidFill>
                          <a:latin typeface="맑은 고딕"/>
                        </a:rPr>
                        <a:t>Brazil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BC4b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112,500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200">
                          <a:solidFill>
                            <a:srgbClr val="2B2B2B"/>
                          </a:solidFill>
                          <a:latin typeface="맑은 고딕"/>
                        </a:rPr>
                        <a:t>138,000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합계 (추정)         357,500           345,620           354,560           222,860           181,000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228600" cy="2286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59552"/>
            <a:ext cx="10789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2023~2025: 인도 BI3/Qxi + 브라질 BR2 → 안정적 35만 대/년 수준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70448"/>
            <a:ext cx="228600" cy="2286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789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2026~2027: Creta(SU2b) + BC4b 신규 양산으로 브라질 Shift 가속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163056"/>
            <a:ext cx="228600" cy="2286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144768"/>
            <a:ext cx="10789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인도 Qxi 감소분 상쇄 + BC4b 풀가동 시 연 30만 대 이상 재회복 기대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4-5.  China 부품 사양 ①  |  GC · YC FL · ADc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1371600"/>
                <a:gridCol w="1828800"/>
                <a:gridCol w="2103119"/>
                <a:gridCol w="1188720"/>
                <a:gridCol w="2743200"/>
              </a:tblGrid>
              <a:tr h="54864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Project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F/R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Rod OD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Inner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Outer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Valve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Part No.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GC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Ø32×1.03T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Ø51×2.5T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MEM184501/601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GC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Ø45.3×1.27T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MEM184101/201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YC FL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Ø48.6×2.5T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MET1W1101/1001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YC FL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Ø25.4×1.18T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Ø38.5×1.27T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MET1W0901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ADc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Ø22 (hollow)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Ø32×1.03T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Ø50×2.5T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MEM261601/701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ADc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Ø25.4×1.18T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Ø38.5×1.27T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MEM261901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MTV : Mechanically Tuned Valve       MTV CL : MTV Closed-loop       OD : Outer Diameter       T : Thickness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주요 사양: Front Ø22 / Rear Ø12.4 Rod · 2.5T 외경 튜브 · MTV 계열 밸브 (중국 표준)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4-6.  China 부품 사양 ②  |  CN7c · ADc PHEV · NU2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/>
                <a:gridCol w="822959"/>
                <a:gridCol w="1463039"/>
                <a:gridCol w="1828799"/>
                <a:gridCol w="2103119"/>
                <a:gridCol w="1188719"/>
                <a:gridCol w="2651759"/>
              </a:tblGrid>
              <a:tr h="522514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Project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F/R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Rod OD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Inner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Outer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Valve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Part No.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2251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CN7c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Ø22 (hollow)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Ø32×1.03T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Ø50×2.5T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MEM548001/549001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CN7c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Ø25.4×1.18T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Ø38.5×1.27T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MEM585801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2251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ADc PHEV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Ø22 (hollow)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Ø32×1.03T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Ø50×2.5T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MET1P7901/8001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ADc PHEV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Ø45.3×1.27T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MET1P8101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2251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NU2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Ø35×1.03T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Ø52×2.5T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MX5197F26/F31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NU2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Ø45.3×1.27T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 CL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MX5198F07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109728" cy="9144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📌  7세대 Elantra(CN7c) 이후 프로젝트 공통 특징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전량 MTV CL(Closed-Loop) 밸브로 전환 · Front Ø22 hollow rod 표준화 · Rear Ø45.3×1.27T 공용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4-7.  India 부품 사양  |  QXI · BI3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1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1371600"/>
                <a:gridCol w="1828800"/>
                <a:gridCol w="2011680"/>
                <a:gridCol w="1097280"/>
                <a:gridCol w="2560319"/>
              </a:tblGrid>
              <a:tr h="50292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Project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F/R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Rod OD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Inner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Outer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Valve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Part No.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029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QXI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Ø48.6×2.5T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MET1L1801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QXI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Ø25.4×1.18T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Ø38.5×1.27T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MET1L1801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BI3 (Type1)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MEM501701/801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BI3 (Type2)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Ø30×1.03T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Ø45×2.5T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MEM501901/502001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292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BI3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Ø25.4×1.18T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Ø38.5×1.27T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MEM503101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846320"/>
            <a:ext cx="5486400" cy="15544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🇮🇳  인도 사양 특징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53035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Rod 직경 Ø18 · Ø20 두 타입 운영 (BI3 Dual-spec)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Outer Tube Ø45~48.6 · 중국 대비 경량화 설계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전 사양 MTV 밸브 (보급형 튜닝)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846320"/>
            <a:ext cx="5577840" cy="1554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9377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💡  차별화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303520"/>
            <a:ext cx="53949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Venue (QXI): 소형 SUV 전용 최경량 사양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Elite (BI3): 해치백 Dual-spec 대응력 입증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향후 Creta India 확대 시 플랫폼 공용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테네코에서의 현대 공급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4-8.  Brazil 부품 사양  |  BR2 · SU2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1280160"/>
                <a:gridCol w="1828800"/>
                <a:gridCol w="2011680"/>
                <a:gridCol w="1097280"/>
                <a:gridCol w="2651760"/>
              </a:tblGrid>
              <a:tr h="512064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Project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F/R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Rod OD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Inner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Outer Tube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Valve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Part No.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1206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BR2 (HB20)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Ø30×1.27T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MEM702301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BR2 (HB20)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Ø25.4×1.2T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Ø38.1×1.2T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RV+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MEM702501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SU2 (Creta)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Ø30×1.27T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Ø48.6×2.5T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ME3579301/F401/F501/F601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SU2 (Creta)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Rear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Ø12.4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Ø30×1.27T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Ø45.3×1.2T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RV+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MEM966301/966401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🟠  브라질 전용: Rear에 RV+ 밸브 채택 → 남미 도로환경 맞춤 튜닝 (중국·인도와 차별화)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74920"/>
            <a:ext cx="3639312" cy="1325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91440" cy="13258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48072"/>
            <a:ext cx="3364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내경 튜브 두께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22392"/>
            <a:ext cx="336499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6F8C"/>
                </a:solidFill>
                <a:latin typeface="Arial"/>
              </a:rPr>
              <a:t>Ø30×1.27T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24728"/>
            <a:ext cx="336499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Inner tube 두께 1.03T → 1.27T 상향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남미 노면 대응 내구성 강화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5074920"/>
            <a:ext cx="3639312" cy="1325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5074920"/>
            <a:ext cx="91440" cy="13258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5148072"/>
            <a:ext cx="3364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RV+ 밸브 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422392"/>
            <a:ext cx="336499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6F8C"/>
                </a:solidFill>
                <a:latin typeface="Arial"/>
              </a:rPr>
              <a:t>Rear 사양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824728"/>
            <a:ext cx="336499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Ride Valve Plus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중속 감쇠력 민감도 개선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5074920"/>
            <a:ext cx="3639312" cy="1325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5074920"/>
            <a:ext cx="91440" cy="13258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5148072"/>
            <a:ext cx="336499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Part No. 다중화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422392"/>
            <a:ext cx="336499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6F8C"/>
                </a:solidFill>
                <a:latin typeface="Arial"/>
              </a:rPr>
              <a:t>4개 변종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5824728"/>
            <a:ext cx="336499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SU2 Front ME3579301/F401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F501/F601 동시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Competitor Analysis  |  ZF · Mando · Bilstein vs. Tenneco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19 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5-1.  경쟁사 개요  |  4대 주요 공급사 프로파일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916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77840" cy="6400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MANDO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만도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Korea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포지션  |  한국 현지 Tier-1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521208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현대/기아 메인 공급사. 가격 경쟁력 · 즉시 대응력 우위. 2-valve 등 신기술 대응 어려움.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691640"/>
            <a:ext cx="5577840" cy="64008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3911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ZF Friedrichshafen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1874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Germany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포지션  |  글로벌 Tier-1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34640"/>
            <a:ext cx="521208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Ioniq6·Genesis Entry ECS 공급. 고성능 라인 인지도 최상위. 가격 高, Air Shock 미지원.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33088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33088"/>
            <a:ext cx="5577840" cy="64008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7880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BILSTEIN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80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Bilstein (thyssenkrupp)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15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Germany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10328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포지션  |  프리미엄 서스펜션 전문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76088"/>
            <a:ext cx="521208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Genesis High-end (Air Shock+ECS) 공급. 고성능 브랜드 이미지. 2-valve MacPherson 부재.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133088"/>
            <a:ext cx="5577840" cy="2331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133088"/>
            <a:ext cx="5577840" cy="6400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17880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E4357"/>
                </a:solidFill>
                <a:latin typeface="Arial"/>
              </a:rPr>
              <a:t>TENNECO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80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0E4357"/>
                </a:solidFill>
                <a:latin typeface="맑은 고딕"/>
              </a:rPr>
              <a:t>Tenneco (Monroe)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315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0E4357"/>
                </a:solidFill>
                <a:latin typeface="Arial"/>
              </a:rPr>
              <a:t>USA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910328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포지션  |  CES Business Hyundai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76088"/>
            <a:ext cx="521208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2-valve MacPherson·Double Wishbone 대응. 가격 합리적. 현대 고성능 실적 확보 필요.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5-2.  공급사 비교 매트릭스  |  HMC R&amp;D 관점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914400"/>
                <a:gridCol w="3657600"/>
                <a:gridCol w="3657600"/>
              </a:tblGrid>
              <a:tr h="768096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공급사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Office
(한국)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Plant
(한국)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R&amp;D
(한국)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강점 (Strength)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약점 (Weakness)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768096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빠른 대응력 · 가격 경쟁력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2-valve 등 신기술 부재 / 신규 차종 개발 대응 한계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ZF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고성능 라인 인지도 최상 · 개발 대응력 우수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상대적으로 높은 가격 · Air Shock + ECS 조합 제품 부재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768096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Bilstein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고성능 · 프리미엄 브랜드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상대적으로 높은 가격 · 2-valve MacPherson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Tenneco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가격 합리성 (vs ZF/Bilstein) · 2025.4 유럽 Golf 시승 호평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현대 고성능 프로젝트 개발 실적 없음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💡  Tenneco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E4357"/>
                </a:solidFill>
                <a:latin typeface="맑은 고딕"/>
              </a:rPr>
              <a:t>Plant/R&amp;D 국내 부재 극복이 핵심 과제 → 공격 포인트: 기술 차별성(2-valve) + 가격 합리성 + 유럽 트랙레코드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5-3.  Hyundai N Brand ECS 공급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1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2194560"/>
                <a:gridCol w="1645920"/>
                <a:gridCol w="1280159"/>
                <a:gridCol w="3840480"/>
              </a:tblGrid>
              <a:tr h="54864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Eng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Model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Damper Type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Supplier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핵심 사항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B/C 세단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i20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Conventional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N.A.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B/C 세단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i30 N / Veloster 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 ECS 최대치 튜닝 → 추가 마진 부재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B/C 세단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Avante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 ECS — dual-valve 미지원 한계 드러남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EV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EV GMP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Ioniq 5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Ioniq 6 개발 단계에서 한계 표면화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EV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EV GMP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Ioniq 6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ZF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 대체 채택 · HMC 유럽 공급사 편견 해소</a:t>
                      </a:r>
                    </a:p>
                  </a:txBody>
                  <a:tcPr>
                    <a:solidFill>
                      <a:srgbClr val="FFF8DD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109728" cy="137160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🎯  시사점  |  Mando 독점 체제의 균열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Ioniq 6 ZF 채택은 2-valve 기술 확보 + 유럽계 공급사 수용성 확대의 이중 시그널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Tenneco CVSA2 (2-valve + MacPherson 대응)는 Mando가 막지 못한 영역을 정확히 공략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N Brand에서 입증된 기술은 Genesis 브랜드로 수직 확산되는 HMC 개발 프로세스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5-4.  Hyundai Genesis Brand ECS 공급 현황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828800"/>
                <a:gridCol w="1371600"/>
                <a:gridCol w="2194560"/>
                <a:gridCol w="3931920"/>
              </a:tblGrid>
              <a:tr h="509451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Eng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Platform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Model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Damper Type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Supplier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핵심 사항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509451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Conventional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N.A.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Sedan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G80 (ICE/EV)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ZF (Entry) / Bilstein (High)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Air Shock + ECS — 프리미엄 전략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9451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Sedan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ZF (Entry) / Bilstein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High-end Bilstein Air Shock+ECS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SUV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GV70 (ICE/EV)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ZF (Entry) / Bilstein (High)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Air Shock + ECS — SUV 프리미엄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509451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ICE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GV80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ZF (Entry) / Bilstein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플래그십 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 b="1">
                          <a:solidFill>
                            <a:srgbClr val="0E4357"/>
                          </a:solidFill>
                          <a:latin typeface="맑은 고딕"/>
                        </a:rPr>
                        <a:t>EV</a:t>
                      </a:r>
                    </a:p>
                  </a:txBody>
                  <a:tcPr>
                    <a:solidFill>
                      <a:srgbClr val="E8F0F3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EV GMP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GV60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Semi-active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Mando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100">
                          <a:solidFill>
                            <a:srgbClr val="2B2B2B"/>
                          </a:solidFill>
                          <a:latin typeface="맑은 고딕"/>
                        </a:rPr>
                        <a:t>Ioniq 5 리소스 공용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349240"/>
            <a:ext cx="11247120" cy="10972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1324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🏆  HMC 프리미엄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BMW/Benz/Bentley 대응 목적의 Air Suspension 도입 → 공급가 아닌 품질 우선으로 ZF·Bilstein 선택.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Tenneco가 CVSA2 기술 + 프리미엄 사양 확보 시 G80/GV70 Entry-Level ZF 대체 가능성 존재.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5-5.  북미 경쟁사 Plant 분포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solidFill>
            <a:srgbClr val="E8F0F3"/>
          </a:solidFill>
          <a:ln w="12700">
            <a:solidFill>
              <a:srgbClr val="1A6F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6F8C"/>
                </a:solidFill>
                <a:latin typeface="맑은 고딕"/>
              </a:rPr>
              <a:t>📷  북미 지도 이미지 삽입 자리</a:t>
            </a:r>
          </a:p>
          <a:p>
            <a:pPr algn="ctr"/>
            <a:r>
              <a:rPr sz="1200" b="1" i="0">
                <a:solidFill>
                  <a:srgbClr val="1A6F8C"/>
                </a:solidFill>
                <a:latin typeface="맑은 고딕"/>
              </a:rPr>
              <a:t>(ZF · Mando 주요 공장 위치 표시)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645920"/>
            <a:ext cx="4663440" cy="4572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645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주요 북미 거점 (ZF · Mando)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24028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4028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Detroit, MI (USA)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4144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Powertrain/Chassis HQ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74320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4320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4320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Gainesville, 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4436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Chassis / Suspension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24612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24612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4612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Mexico 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4728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Arteaga / Juarez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74904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74904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4904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Opelika, 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5020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Shock Absorber Plant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25196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25196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5196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Monterrey, MX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5312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Arteaga — Shock Absorber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4754880"/>
            <a:ext cx="914400" cy="4114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75488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Tenneco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75488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Michigan, USA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95604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R&amp;D + HQ (참고)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경쟁사 비교 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5-6.  남미 경쟁사 Plant 분포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solidFill>
            <a:srgbClr val="E8F0F3"/>
          </a:solidFill>
          <a:ln w="12700">
            <a:solidFill>
              <a:srgbClr val="1A6F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00800" cy="4389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A6F8C"/>
                </a:solidFill>
                <a:latin typeface="맑은 고딕"/>
              </a:rPr>
              <a:t>📷  남미 (Central &amp; South America) 지도 이미지 삽입 자리</a:t>
            </a:r>
          </a:p>
          <a:p>
            <a:pPr algn="ctr"/>
            <a:r>
              <a:rPr sz="1200" b="1" i="0">
                <a:solidFill>
                  <a:srgbClr val="1A6F8C"/>
                </a:solidFill>
                <a:latin typeface="맑은 고딕"/>
              </a:rPr>
              <a:t>(ZF Brazil · Mando Brazil · ZF Argentina 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645920"/>
            <a:ext cx="4663440" cy="4572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645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주요 남미 거점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24028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4028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Brazil — São Bernardo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4144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HQ /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74320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4320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4320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Sorocaba / Araraquara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4436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Chassis / 전장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24612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24612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4612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Limeira, Brazil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4728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Shock Absorber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749040"/>
            <a:ext cx="914400" cy="4114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74904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ZF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4904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San Francisco, Argentina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5020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Chassis / Driveline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4251960"/>
            <a:ext cx="914400" cy="4114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251960"/>
            <a:ext cx="914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참고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51960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Tenneco Brazil Cotia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453128"/>
            <a:ext cx="3657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현지 거점 (참고)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1996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맑은 고딕"/>
              </a:rPr>
              <a:t>※ 실제 발표 시 각 Plant 아이콘 표시된 남미 지도 이미지 삽입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CVSA2 Program  |  Next-Gen 2-Valve Damper for Hyundai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26 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6-1.  CVSA2 프로그램 배경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5486400" cy="38404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48640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303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CVSA2 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12064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Continuously Variable Semi-Active 2nd Gen</a:t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• Tenneco 2세대 반능동형 감쇠 제어 쇼크업소버</a:t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• 2-Valve (Dual Valve) 시스템 채택</a:t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• MacPherson Strut · Double Wishbone 양방 대응</a:t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• 차량 주행 상태에 따른 감쇠력 실시간 가변</a:t>
            </a:r>
          </a:p>
          <a:p>
            <a:pPr algn="l"/>
            <a:r>
              <a:rPr sz="1200" b="0" i="0">
                <a:solidFill>
                  <a:srgbClr val="2B2B2B"/>
                </a:solidFill>
                <a:latin typeface="맑은 고딕"/>
              </a:rPr>
              <a:t>• ZF · Mando 1-valve 대비 응답성/승차감 우위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5577840" cy="384048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7E55A"/>
                </a:solidFill>
                <a:latin typeface="맑은 고딕"/>
              </a:rPr>
              <a:t>왜 현대에 필요한가?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359152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Mando 1-valve: 감쇠 세팅 한계 — Ioniq 6에서 ZF로 전환된 이유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852928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차세대 HMC N·Genesis 라인업은 2-valve 필수 요구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93008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419856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ZF 2-valve: 가격 高 · Air Shock 조합 부재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059936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86784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Bilstein 2-valve: MacPherson 대응 제품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626864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553712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→  Tenneco CVSA2가 4사 중 유일하게 모든 조건 충족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🎯  CVSA2 = Hyundai 차세대 Chassis의 '미싱 퍼즐'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E4357"/>
                </a:solidFill>
                <a:latin typeface="맑은 고딕"/>
              </a:rPr>
              <a:t>기술 우위 + 가격 합리성 + 플랫폼 범용성 — 3대 요건을 동시 만족하는 유일한 솔루션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6-2.  CVSA2 기술적 차별화  |  2-Valve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3657600" cy="4572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3657600" cy="10058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Arial"/>
              </a:rPr>
              <a:t>[ 기존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2B2B2B"/>
                </a:solidFill>
                <a:latin typeface="Arial"/>
              </a:rPr>
              <a:t>Mando 1-Valve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맑은 고딕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Single valve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맑은 고딕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00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저속/고속 감쇠 트레이드오프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맑은 고딕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Ioniq 6에서 한계 드러남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맑은 고딕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8172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Mando ECS 성능 상한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맑은 고딕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7608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추가 마진 확보 어려움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645920"/>
            <a:ext cx="3657600" cy="4572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645920"/>
            <a:ext cx="3657600" cy="100584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7373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[ 경쟁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93392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ZF 2-Valve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8036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E8A83E"/>
                </a:solidFill>
                <a:latin typeface="맑은 고딕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89864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Dual valve 채용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47472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E8A83E"/>
                </a:solidFill>
                <a:latin typeface="맑은 고딕"/>
              </a:rPr>
              <a:t>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49300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감쇠 분리 제어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06908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E8A83E"/>
                </a:solidFill>
                <a:latin typeface="맑은 고딕"/>
              </a:rPr>
              <a:t>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08736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Genesis/Ioniq 6 채택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66344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E8A83E"/>
                </a:solidFill>
                <a:latin typeface="맑은 고딕"/>
              </a:rPr>
              <a:t>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68172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높은 공급 단가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25780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E8A83E"/>
                </a:solidFill>
                <a:latin typeface="맑은 고딕"/>
              </a:rPr>
              <a:t>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27608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Air Shock 조합 불가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645920"/>
            <a:ext cx="3657600" cy="10058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17373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0E4357"/>
                </a:solidFill>
                <a:latin typeface="Arial"/>
              </a:rPr>
              <a:t>[ 우리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1993392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E4357"/>
                </a:solidFill>
                <a:latin typeface="Arial"/>
              </a:rPr>
              <a:t>Tenneco CVSA2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88036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맑은 고딕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289864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Dual valve (2-Valve)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47472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맑은 고딕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49300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MacPherson + Double Wishbone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6908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맑은 고딕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408736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가격 합리 (vs ZF/Bilstein)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66344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맑은 고딕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468172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유럽 시승 호평 (2025.4)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257800"/>
            <a:ext cx="320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맑은 고딕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5276088"/>
            <a:ext cx="3108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N Brand → Genesis 확산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355080"/>
            <a:ext cx="11247120" cy="7315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6-3.  Demo Car 검증 현황  |  Target: Ioniq 6 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5394960" cy="23774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맑은 고딕"/>
              </a:rPr>
              <a:t>🎯  Target Vehicle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Ioniq 6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D7E55A"/>
                </a:solidFill>
                <a:latin typeface="맑은 고딕"/>
              </a:rPr>
              <a:t>EV GMP Platform · High-Performance EV Sedan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50292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HMC가 Ioniq 5에서 드러난 Mando ECS 한계를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가장 명확히 확인할 수 있는 고성능 N 브랜드 차량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45920"/>
            <a:ext cx="5669280" cy="23774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🧪  Benchmark 구성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94560"/>
            <a:ext cx="1097280" cy="41148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9456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22860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ZF, 1-valve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95728"/>
            <a:ext cx="41148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현재 Ioniq 6 양산 사양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1097280" cy="41148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22860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Mando, 1-valve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944368"/>
            <a:ext cx="41148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현재 Ioniq 5 양산 사양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91840"/>
            <a:ext cx="1097280" cy="41148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291840"/>
            <a:ext cx="10972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Test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91840"/>
            <a:ext cx="22860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Arial"/>
              </a:rPr>
              <a:t>Tenneco, CVSA2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493008"/>
            <a:ext cx="41148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Tenneco 제안 신규 사양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109728" cy="21945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💪  HMC가 본 Tenneco 강점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782312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CVSA2 2-valve는 MacPherson 및 Double Wishbone 양쪽 적용 가능 (특히 MacPherson에 강점)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102352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경쟁사 대비 합리적 공급가격 (HMC 내부 평가)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422392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492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유럽 현지 Golf 시승 이후 HMC 엔지니어 긍정 피드백 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742431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669279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현 Mando 1-valve의 성능 한계를 HMC R&amp;D도 인지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062472"/>
            <a:ext cx="164592" cy="16459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9893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Demo Car 테스트는 RFQ 검증 과정 — ZF와 동등 성능 확인 시 우위 확보 가능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6-4.  Demo Car 검증 일정  |  Namyang R&amp;D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2697480" cy="3200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697480" cy="9144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7E55A"/>
                </a:solidFill>
                <a:latin typeface="Arial"/>
              </a:rPr>
              <a:t>CW42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Oct. 13~19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743200"/>
            <a:ext cx="457200" cy="4572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E4357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331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샘플 선적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Sample Shipment to HMC Namyang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737360"/>
            <a:ext cx="2697480" cy="3200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737360"/>
            <a:ext cx="2697480" cy="9144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8288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7E55A"/>
                </a:solidFill>
                <a:latin typeface="Arial"/>
              </a:rPr>
              <a:t>CW46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317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Nov. 11~16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743200"/>
            <a:ext cx="457200" cy="4572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7432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E4357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17520"/>
            <a:ext cx="2331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전장 설치·커미셔닝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84048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Electric System Installation &amp; Commissioning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737360"/>
            <a:ext cx="2697480" cy="3200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737360"/>
            <a:ext cx="2697480" cy="9144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8288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7E55A"/>
                </a:solidFill>
                <a:latin typeface="Arial"/>
              </a:rPr>
              <a:t>CW47~49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3317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Nov. 17~Dec.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743200"/>
            <a:ext cx="457200" cy="4572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7432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E4357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2331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Demo-Car HW/SW 튜닝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4048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Performance Tuning &amp; Verification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1737360"/>
            <a:ext cx="2697480" cy="32004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1737360"/>
            <a:ext cx="2697480" cy="9144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828800"/>
            <a:ext cx="2697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7E55A"/>
                </a:solidFill>
                <a:latin typeface="Arial"/>
              </a:rPr>
              <a:t>End of</a:t>
            </a:r>
          </a:p>
          <a:p>
            <a:pPr algn="ctr"/>
            <a:r>
              <a:rPr sz="2000" b="1" i="0">
                <a:solidFill>
                  <a:srgbClr val="D7E55A"/>
                </a:solidFill>
                <a:latin typeface="Arial"/>
              </a:rPr>
              <a:t>June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23317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By End of June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09960" y="2743200"/>
            <a:ext cx="457200" cy="4572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09960" y="27432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E4357"/>
                </a:solidFill>
                <a:latin typeface="Arial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017520"/>
            <a:ext cx="23317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개선안 수립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4048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Develop Improvement Plan → RFQ 준비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120640"/>
            <a:ext cx="11247120" cy="914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📍  검증 장소 및 체계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790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샘플 선적지: 남양 HMC R&amp;D (Korea)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• 전담 조직: High Performance Vehicle Engineering Design Team · Chassis Parts Purchasing Team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CVSA2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6-5.  현대에서의 CVSA2 확대 방안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91640"/>
            <a:ext cx="3657600" cy="4251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57600" cy="100584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01368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383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진입 / Foothold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657600" cy="54864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3383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4357"/>
                </a:solidFill>
                <a:latin typeface="Arial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4436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Ioniq 6 N (Demo 차량)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74720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Demo Car 검증 및 RFQ 수주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ZF 1-valve 성능 동등 + 2-valve 우위 입증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846320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N Brand 내 최초 Tenneco 수주 확보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91640"/>
            <a:ext cx="3657600" cy="4251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691640"/>
            <a:ext cx="3657600" cy="100584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801368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STAGE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103120"/>
            <a:ext cx="3383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확장 / Expansion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697480"/>
            <a:ext cx="3657600" cy="54864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743200"/>
            <a:ext cx="3383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4357"/>
                </a:solidFill>
                <a:latin typeface="Arial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94436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N Brand 추가 모델 + Genesis Entry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474720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3832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Ioniq 5 N 후속 · Avante N FL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160520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0690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G80 · GV70 Entry Level ECS 공급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4846320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7548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N Brand → Genesis 수직 확산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691640"/>
            <a:ext cx="3657600" cy="4251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691640"/>
            <a:ext cx="3657600" cy="10058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801368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STAGE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103120"/>
            <a:ext cx="3383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주류 / Mainstream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697480"/>
            <a:ext cx="3657600" cy="54864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743200"/>
            <a:ext cx="3383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0E4357"/>
                </a:solidFill>
                <a:latin typeface="Arial"/>
              </a:rP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94436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Genesis High-end + HMC 일반 라인업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474720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3832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G90 · GV80 High-end Air Shock + CVSA2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4160520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40690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HMC 대량 모델 (Ioniq 시리즈) 점진 채택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846320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754880"/>
            <a:ext cx="3017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Tenneco Korea HMC 주력 공급사 포지셔닝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2026 (진입) → 2027~2028 (확장) → 2029~ (주류화)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Hyundai Attack Strategy  |  Technology × Relationship ×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32 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7-1.  Hyundai ECS Launching Process  |  3-Stage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91640"/>
            <a:ext cx="3566160" cy="4206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D7E55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Technology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Showcase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566160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유럽 (독일·벨기에)</a:t>
            </a:r>
          </a:p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Tenneco ↔ Hyundai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Vehicle driving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Technical exchange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029200"/>
            <a:ext cx="301752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1206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Counterpart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차량 시승 및 기술 교류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고성능 브랜드 선호 VP 대응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691640"/>
            <a:ext cx="3566160" cy="4206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691640"/>
            <a:ext cx="3566160" cy="10058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82880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D7E55A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8745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Engineering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&amp;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697480"/>
            <a:ext cx="3566160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7432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HKMC R&amp;D (Korea, 화성)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29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74904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Demo car build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Performance test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Internal validation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26280" y="5029200"/>
            <a:ext cx="301752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26280" y="51206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Counterpart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34924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High Performance Vehicle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Engineering Design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691640"/>
            <a:ext cx="3566160" cy="4206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691640"/>
            <a:ext cx="3566160" cy="100584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82880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D7E55A"/>
                </a:solidFill>
                <a:latin typeface="Arial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874520"/>
            <a:ext cx="21945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Purchasing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697480"/>
            <a:ext cx="3566160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7432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HKMC HQ (Korea, 서울)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Activities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49040"/>
            <a:ext cx="30175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RFQ / RFI</a:t>
            </a:r>
          </a:p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Quotation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21040" y="5029200"/>
            <a:ext cx="301752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21040" y="51206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Arial"/>
              </a:rPr>
              <a:t>Counterpart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49240"/>
            <a:ext cx="3017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Chassis Parts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맑은 고딕"/>
              </a:rPr>
              <a:t>Purchasing Team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E4357"/>
                </a:solidFill>
                <a:latin typeface="맑은 고딕"/>
              </a:rPr>
              <a:t>Validation stage (N Performance) → Sourcing stage (Top-Down to Genesis) — N Brand 검증 제품은 Genesis로 수직 확산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7-2.  공략 Framework  |  3-Axis Strategy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00" cy="109728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AXIS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기술 (Technology)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3657600" cy="5943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291840" cy="576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2-Valve CVSA2 기술 우위 확정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85031"/>
            <a:ext cx="164592" cy="16459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7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MacPherson·Double Wishbone 양 플랫폼 대응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62271"/>
            <a:ext cx="164592" cy="16459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1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경쟁사 대비 dual-valve 유일성 입증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39511"/>
            <a:ext cx="164592" cy="16459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5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Air Shock + ECS 통합 솔루션 로드맵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737360"/>
            <a:ext cx="3657600" cy="4389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737360"/>
            <a:ext cx="3657600" cy="109728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87452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AXIS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14884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관계 (Relationship)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834640"/>
            <a:ext cx="3657600" cy="5943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852928"/>
            <a:ext cx="3291840" cy="576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HMC 핵심 인물 공략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685031"/>
            <a:ext cx="164592" cy="164592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61187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VP Manfred Harrer : 유럽계 선호 적극 활용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4462271"/>
            <a:ext cx="164592" cy="164592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438911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Porsche 레퍼런스 강조 (HMC 긍정 인식)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5239511"/>
            <a:ext cx="164592" cy="164592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516635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남양 R&amp;D 엔지니어 유럽 초청 · 시승 프로그램 확대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737360"/>
            <a:ext cx="3657600" cy="43891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737360"/>
            <a:ext cx="3657600" cy="109728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87452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7E55A"/>
                </a:solidFill>
                <a:latin typeface="Arial"/>
              </a:rPr>
              <a:t>AXIS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148840"/>
            <a:ext cx="3291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실행 (Execution)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834640"/>
            <a:ext cx="3657600" cy="5943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852928"/>
            <a:ext cx="3291840" cy="5760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N Brand → Genesis 확산 경로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685031"/>
            <a:ext cx="164592" cy="16459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61187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Ioniq 6 N RFQ 수주 (Stage 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462271"/>
            <a:ext cx="164592" cy="16459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438911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2026 Demo Car 개선안 6월 확정 → 2027 양산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5239511"/>
            <a:ext cx="164592" cy="16459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5166359"/>
            <a:ext cx="2926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맑은 고딕"/>
              </a:rPr>
              <a:t>Tenneco Korea Plant/R&amp;D 단계별 구축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현대 공략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7-3.  Key Action Items  |  즉시 실행 과제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1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468880"/>
                <a:gridCol w="4206239"/>
                <a:gridCol w="2286000"/>
                <a:gridCol w="1828800"/>
              </a:tblGrid>
              <a:tr h="685800"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세부 내용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Owner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Timeline</a:t>
                      </a:r>
                    </a:p>
                  </a:txBody>
                  <a:tcPr>
                    <a:solidFill>
                      <a:srgbClr val="1A6F8C"/>
                    </a:solidFill>
                  </a:tcPr>
                </a:tc>
              </a:tr>
              <a:tr h="6858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Ioniq 6 N Demo Car RFQ 수주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CW47~49 HW/SW 튜닝 → 2026.6 개선안 → RFQ 제출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Korea + CES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2026 Q1~Q2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유럽 Technology Showcase 확대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남양 엔지니어/HMC 매니저 유럽 초청 시승 (Golf/Porsche 포함)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EU + Sales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2026 Q2~Q3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858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VP Manfred Harrer 전담 커뮤니케이션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Porsche 레퍼런스 중심 Executive Meeting 분기 1회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NA HQ Exec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상시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N Brand → Genesis 확산 로드맵 제안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Genesis G80/GV70 Entry ECS 2027 전환 시나리오 제시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CES Product Planning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2026 Q3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</a:tr>
              <a:tr h="685800"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0E4357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Korea 체제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Plant·R&amp;D 부재 극복 — 단계별 현지화 계획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Tenneco Korea 경영진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27432" bIns="27432" wrap="square"/>
                    <a:lstStyle/>
                    <a:p>
                      <a:pPr algn="l"/>
                      <a:r>
                        <a:rPr sz="1000">
                          <a:solidFill>
                            <a:srgbClr val="2B2B2B"/>
                          </a:solidFill>
                          <a:latin typeface="맑은 고딕"/>
                        </a:rPr>
                        <a:t>2026~2028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🏁  Success Metric  |  2026년 말 Ioniq 6 N CVSA2 수주 확정 → 2027년 SOP → 2028 Genesis Entry 확대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Tenneco Korea의 단계별 운영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Tenneco Korea Operation Roadmap  |  Phase 1 · 2 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36 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Tenneco Korea 단계별 운영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8-1.  단계별 운영 로드맵  |  Korea Local Capability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91640"/>
            <a:ext cx="3657600" cy="4297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57600" cy="1280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기반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Arial"/>
              </a:rP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3657600" cy="5029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Sales · Engineering 인력 보강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30752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CES 영업 전담팀 + Technical Sales 인력 확충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62272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8912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HMC 남양 R&amp;D 상주 엔지니어 배치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93792"/>
            <a:ext cx="137160" cy="13716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2064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유럽 시승 및 기술 교류 운영 채널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91640"/>
            <a:ext cx="3657600" cy="4297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691640"/>
            <a:ext cx="3657600" cy="1280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7830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0574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실행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Arial"/>
              </a:rPr>
              <a:t>2027~2028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971800"/>
            <a:ext cx="3657600" cy="5029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9718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Local Engineering Center 설립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730752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365760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Tenneco Korea Engineering Center 개소 (위치 협의)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4462272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38912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Ioniq 6 N SOP 지원 및 차종 확장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5193792"/>
            <a:ext cx="137160" cy="137160"/>
          </a:xfrm>
          <a:prstGeom prst="rect">
            <a:avLst/>
          </a:prstGeom>
          <a:solidFill>
            <a:srgbClr val="125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512064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Genesis Entry Level 사전 대응 R&amp;D 수행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691640"/>
            <a:ext cx="3657600" cy="4297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1691640"/>
            <a:ext cx="3657600" cy="1280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78308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7E55A"/>
                </a:solidFill>
                <a:latin typeface="Arial"/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0574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현지화 완성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5603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7E55A"/>
                </a:solidFill>
                <a:latin typeface="Arial"/>
              </a:rPr>
              <a:t>2029~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971800"/>
            <a:ext cx="3657600" cy="5029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2971800"/>
            <a:ext cx="32918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Local Plant + R&amp;D 운영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730752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365760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현대/기아 신차 개발 초기부터 Tier-1 참여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462272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438912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국내 공장·R&amp;D 동시 운영으로 Mando 수준 대응력 확보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5193792"/>
            <a:ext cx="137160" cy="1371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5120640"/>
            <a:ext cx="30175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맑은 고딕"/>
              </a:rPr>
              <a:t>연간 5개 이상 HMC 프로그램 동시 공급 체제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172200"/>
            <a:ext cx="11247120" cy="22860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116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맑은 고딕"/>
              </a:rPr>
              <a:t>Tenneco Korea 단계별 운영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0E4357"/>
                </a:solidFill>
                <a:latin typeface="맑은 고딕"/>
              </a:rPr>
              <a:t>8-2.  조직 · 리소스 · 투자 계획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25400">
            <a:solidFill>
              <a:srgbClr val="D7E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645920"/>
            <a:ext cx="5669280" cy="4754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669280" cy="45720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🏢  조직 구성 (Target 2027)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Korea Country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총괄 · HMC Key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267712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267712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1명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16352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CES Sales &amp;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72384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영업·MKT·Technical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889504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889504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6명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38144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38144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Engineering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94176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남양 상주 + 자체 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3511296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3511296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12명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59936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59936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Program Mgmt (PMO)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31596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5개 HMC 프로젝트 동시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4133088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133088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4명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81728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817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Quality &amp; SQA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HMC 품질 기준 대응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754880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75488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3명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303520"/>
            <a:ext cx="91440" cy="502920"/>
          </a:xfrm>
          <a:prstGeom prst="rect">
            <a:avLst/>
          </a:prstGeom>
          <a:solidFill>
            <a:srgbClr val="1A6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0352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4357"/>
                </a:solidFill>
                <a:latin typeface="맑은 고딕"/>
              </a:rPr>
              <a:t>Local Plant (Phase3)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5955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맑은 고딕"/>
              </a:rPr>
              <a:t>브라질·중국 플랜트 Mirror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376672"/>
            <a:ext cx="1097280" cy="3657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5376672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TBD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1645920"/>
            <a:ext cx="5394960" cy="2286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17373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7E55A"/>
                </a:solidFill>
                <a:latin typeface="맑은 고딕"/>
              </a:rPr>
              <a:t>💰  투자 우선순위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267712"/>
            <a:ext cx="137160" cy="1371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1945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[1] HMC 남양 상주 Engineering — 2026 Q1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578608"/>
            <a:ext cx="137160" cy="1371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505456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[2] Korea Technical Office (강남/판교) — 2026 Q2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2889504"/>
            <a:ext cx="137160" cy="1371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2816352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[3] CVSA2 시험/분석 장비 — 2026 Q3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200400"/>
            <a:ext cx="137160" cy="1371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3127248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[4] Local Engineering Center — 2027 H1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511296"/>
            <a:ext cx="137160" cy="13716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438144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[5] Local Plant Feasibility — 2028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4069080"/>
            <a:ext cx="5394960" cy="233172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41605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E4357"/>
                </a:solidFill>
                <a:latin typeface="맑은 고딕"/>
              </a:rPr>
              <a:t>📊  핵심 KPI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4572000"/>
            <a:ext cx="8229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57200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D7E55A"/>
                </a:solidFill>
                <a:latin typeface="Arial"/>
              </a:rPr>
              <a:t>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46177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Ioniq 6 N RFQ 수주 · Demo 검증 완료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5010912"/>
            <a:ext cx="8229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501091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D7E55A"/>
                </a:solidFill>
                <a:latin typeface="Arial"/>
              </a:rPr>
              <a:t>2027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5056632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Genesis Entry ECS 1~2개 모델 수주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5449824"/>
            <a:ext cx="8229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544982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D7E55A"/>
                </a:solidFill>
                <a:latin typeface="Arial"/>
              </a:rPr>
              <a:t>2028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06640" y="5495544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HMC 연매출 USD 100M 돌파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5888736"/>
            <a:ext cx="822960" cy="36576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88873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D7E55A"/>
                </a:solidFill>
                <a:latin typeface="Arial"/>
              </a:rPr>
              <a:t>2029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5934456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4357"/>
                </a:solidFill>
                <a:latin typeface="맑은 고딕"/>
              </a:rPr>
              <a:t>HMC Top-3 Chassis 공급사 진입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6565392"/>
            <a:ext cx="4572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6565392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A6F8C"/>
                </a:solidFill>
                <a:latin typeface="Arial"/>
              </a:rPr>
              <a:t>TENNECO × HYUNDAI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0" y="6565392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65760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0" b="1" i="0">
                <a:solidFill>
                  <a:srgbClr val="D7E55A"/>
                </a:solidFill>
                <a:latin typeface="Arial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37744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D7E55A"/>
                </a:solidFill>
                <a:latin typeface="Arial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D7E55A"/>
                </a:solidFill>
                <a:latin typeface="Arial"/>
              </a:rPr>
              <a:t>TENNECO × HYUNDAI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D7E55A"/>
                </a:solidFill>
                <a:latin typeface="Arial"/>
              </a:rPr>
              <a:t>— 39 —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0" b="1" i="0">
                <a:solidFill>
                  <a:srgbClr val="D7E55A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1">
                <a:solidFill>
                  <a:srgbClr val="D7E55A"/>
                </a:solidFill>
                <a:latin typeface="Arial"/>
              </a:rPr>
              <a:t>Tenneco × Hyundai Motor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Next-Gen Chassis Partnership · 2026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solidFill>
            <a:srgbClr val="D7E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E4357"/>
                </a:solidFill>
                <a:latin typeface="Arial"/>
              </a:rPr>
              <a:t>TENNECO — RIDE ENGINEERED FOR HYUNDAI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맑은 고딕"/>
              </a:rPr>
              <a:t>General Business – Tenneco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502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