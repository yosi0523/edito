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5303520"/>
            <a:ext cx="14630400" cy="1097280"/>
          </a:xfrm>
          <a:prstGeom prst="parallelogram">
            <a:avLst>
              <a:gd name="adj" fmla="val 60000"/>
            </a:avLst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66360"/>
            <a:ext cx="12191695" cy="4572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7E55A"/>
                </a:solidFill>
                <a:latin typeface="Arial"/>
              </a:rPr>
              <a:t>TENNECO INTERNAL SEMINAR —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97280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Hyundai Motor Group 프로젝트 현황 및 공략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0" i="0">
                <a:solidFill>
                  <a:srgbClr val="D7E55A"/>
                </a:solidFill>
                <a:latin typeface="Arial"/>
              </a:rPr>
              <a:t>Tenneco × Hyundai : Current Business &amp; Growth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</a:rPr>
              <a:t>글로벌 시장 현황  ·  공급 프로그램  ·  경쟁사 비교  ·  CVSA2 확대  ·  운영 로드맵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Tenneco Korea – Hyundai/Kia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D7E55A"/>
                </a:solidFill>
                <a:latin typeface="맑은 고딕"/>
              </a:rPr>
              <a:t>대한민국 · Tenneco 본사 세미나 발표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1097280"/>
            <a:ext cx="201168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0" b="1" i="0">
                <a:solidFill>
                  <a:srgbClr val="1A6F8C"/>
                </a:solidFill>
                <a:latin typeface="Arial"/>
              </a:rPr>
              <a:t>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7E55A"/>
                </a:solidFill>
                <a:latin typeface="Arial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29184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D7E55A"/>
                </a:solidFill>
                <a:latin typeface="Arial"/>
              </a:rPr>
              <a:t>Hyundai Project</a:t>
            </a:r>
          </a:p>
          <a:p>
            <a:pPr algn="l"/>
            <a:r>
              <a:rPr sz="1600" b="0" i="0">
                <a:solidFill>
                  <a:srgbClr val="D7E55A"/>
                </a:solidFill>
                <a:latin typeface="Arial"/>
              </a:rP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D7E55A"/>
                </a:solidFill>
                <a:latin typeface="Arial"/>
              </a:rPr>
              <a:t>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8686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8686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82296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현대 글로벌 시장 판매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17043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Hyundai Global Market Share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0640" y="1389888"/>
            <a:ext cx="6766559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0" y="14630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630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41732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현대 북미 및 남미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76479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Hyundai N.America &amp; S.America Market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20640" y="1984248"/>
            <a:ext cx="6766559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89120" y="20574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0574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01168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현대에서의 Tenneco 점유율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35915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Tenneco Business Ratio in Hyundai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20640" y="2578608"/>
            <a:ext cx="6766559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389120" y="26517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6517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60604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Tenneco의 현대 공급 프로그램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95351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Hyundai Supply Program (China · India · Brazil)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20640" y="3172968"/>
            <a:ext cx="6766559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389120" y="32461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2461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20040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경쟁사 비교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54787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Competitor Analysis (Mando · ZF · Bilstein)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20640" y="3767328"/>
            <a:ext cx="6766559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389120" y="38404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38404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79476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CVSA2 프로그램 확대 방안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14223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CVSA2 Program &amp; Expansion Plan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120640" y="4361688"/>
            <a:ext cx="6766559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389120" y="44348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44348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438912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현대 공략 방법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473659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Hyundai Winning Strategy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120640" y="4956048"/>
            <a:ext cx="6766559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389120" y="50292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0" y="50292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498348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Tenneco Korea의 단계별 운영 방안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33095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Tenneco Korea Operating Roadmap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120640" y="5550408"/>
            <a:ext cx="6766559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389120" y="56235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56235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557784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Q &amp; 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592531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Discussion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65760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0" b="1" i="0">
                <a:solidFill>
                  <a:srgbClr val="D7E55A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377440"/>
            <a:ext cx="7315200" cy="73152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현대 글로벌 시장 판매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20040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D7E55A"/>
                </a:solidFill>
                <a:latin typeface="Arial"/>
              </a:rPr>
              <a:t>Hyundai Global Market Share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7E55A"/>
                </a:solidFill>
                <a:latin typeface="Arial"/>
              </a:rPr>
              <a:t>TENNECO × HYUNDAI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Arial"/>
              </a:rPr>
              <a:t>— 3 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현대 글로벌 시장 판매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1. Hyundai Global Market Share  |  2025년 기준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1554480"/>
            <a:ext cx="2560320" cy="1188720"/>
          </a:xfrm>
          <a:prstGeom prst="roundRect">
            <a:avLst>
              <a:gd name="adj" fmla="val 10000"/>
            </a:avLst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2025 현대차 글로벌 판매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93392"/>
            <a:ext cx="2560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414만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맑은 고딕"/>
              </a:rPr>
              <a:t>대 (Total Sales)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554480"/>
            <a:ext cx="2560320" cy="1188720"/>
          </a:xfrm>
          <a:prstGeom prst="roundRect">
            <a:avLst>
              <a:gd name="adj" fmla="val 10000"/>
            </a:avLst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69164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최대 판매 지역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1993392"/>
            <a:ext cx="2560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아시아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51460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맑은 고딕"/>
              </a:rPr>
              <a:t>146만 대 (35.3%)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554480"/>
            <a:ext cx="2560320" cy="1188720"/>
          </a:xfrm>
          <a:prstGeom prst="roundRect">
            <a:avLst>
              <a:gd name="adj" fmla="val 10000"/>
            </a:avLst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69164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핵심 전략 시장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993392"/>
            <a:ext cx="2560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아메리카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51460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맑은 고딕"/>
              </a:rPr>
              <a:t>134만 대 (32.4%)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554480"/>
            <a:ext cx="2560320" cy="1188720"/>
          </a:xfrm>
          <a:prstGeom prst="roundRect">
            <a:avLst>
              <a:gd name="adj" fmla="val 10000"/>
            </a:avLst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69164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기준 연도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1993392"/>
            <a:ext cx="2560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51460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맑은 고딕"/>
              </a:rPr>
              <a:t>Year of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260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E4357"/>
                </a:solidFill>
                <a:latin typeface="맑은 고딕"/>
              </a:rPr>
              <a:t>■ 2025년 현대자동차 지역별 판매 현황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57200" y="3337560"/>
          <a:ext cx="685799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909"/>
                <a:gridCol w="3117272"/>
                <a:gridCol w="1603168"/>
                <a:gridCol w="890649"/>
              </a:tblGrid>
              <a:tr h="426720"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지역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주요 국가 및 거점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판매 수량 (추정)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비중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</a:tr>
              <a:tr h="4267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아메리카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미국, 캐나다, 브라질(HMB), 멕시코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134만 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32.4%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아시아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한국(내수), 인도, 베트남, 인도네시아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146만 대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35.3%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267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유럽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독일, 영국, 프랑스 등 EU 지역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61만 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14.7%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중동, 아프리카, 러시아, 호주 등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73만 대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17.6%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267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전 세계 시장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414만 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7589520" y="2926080"/>
            <a:ext cx="4160520" cy="301752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301752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7E55A"/>
                </a:solidFill>
                <a:latin typeface="Arial"/>
              </a:rPr>
              <a:t>TENNECO GLOBAL FOOTPRINT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3337560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전 세계 공급 역량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3749039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 i="0">
                <a:solidFill>
                  <a:srgbClr val="D7E55A"/>
                </a:solidFill>
                <a:latin typeface="Arial"/>
              </a:rPr>
              <a:t>60,000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822191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Global Team Members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4251959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 i="0">
                <a:solidFill>
                  <a:srgbClr val="D7E55A"/>
                </a:solidFill>
                <a:latin typeface="Arial"/>
              </a:rPr>
              <a:t>184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325111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Manufacturing Plants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754879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 i="0">
                <a:solidFill>
                  <a:srgbClr val="D7E55A"/>
                </a:solidFill>
                <a:latin typeface="Arial"/>
              </a:rPr>
              <a:t>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828031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Distribution Centers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525780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 i="0">
                <a:solidFill>
                  <a:srgbClr val="D7E55A"/>
                </a:solidFill>
                <a:latin typeface="Arial"/>
              </a:rPr>
              <a:t>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5330952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Engineering Facilities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0E4357"/>
                </a:solidFill>
                <a:latin typeface="맑은 고딕"/>
              </a:rPr>
              <a:t>Insight  ·  현대차는 지정학적 리스크와 경기 변동 속에서도 북미 최대 실적 및 인도 시장 성장을 통해 글로벌 판매 비중을 성공적으로 다변화했다.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65760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0" b="1" i="0">
                <a:solidFill>
                  <a:srgbClr val="D7E55A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377440"/>
            <a:ext cx="7315200" cy="73152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현대 북미 및 남미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20040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D7E55A"/>
                </a:solidFill>
                <a:latin typeface="Arial"/>
              </a:rPr>
              <a:t>Hyundai N.America &amp; S.America Market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7E55A"/>
                </a:solidFill>
                <a:latin typeface="Arial"/>
              </a:rPr>
              <a:t>TENNECO × HYUNDAI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Arial"/>
              </a:rPr>
              <a:t>— 5 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현대 북미 및 남미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2-1. Hyundai N.America &amp; S.America Market  |  국가별 판매 현황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55448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■ 2025년 현대자동차 핵심 국가별 판매 현황 (글로벌 134만 대 기준)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65960"/>
          <a:ext cx="65836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651760"/>
                <a:gridCol w="1828800"/>
                <a:gridCol w="1097280"/>
              </a:tblGrid>
              <a:tr h="483325"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지역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핵심 국가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판매 수량 (추정)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글로벌 비중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</a:tr>
              <a:tr h="483325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북미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미국 (USA)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90.2만 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21.8%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북미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캐나다 (Canada)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14.1만 대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3.4%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83325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북미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멕시코 (Mexico)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5.1만 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남미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브라질 (HMB)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18.5만 대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4.5%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83325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기타 아메리카 국가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6.1만 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아메리카 전체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134.0만 대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32.4%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0" y="15544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■ 판매량 시각화 (만 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11680"/>
            <a:ext cx="1051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2B2B2B"/>
                </a:solidFill>
                <a:latin typeface="맑은 고딕"/>
              </a:rPr>
              <a:t>미국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084832"/>
            <a:ext cx="2804281" cy="25603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62481" y="201168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90.2만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560320"/>
            <a:ext cx="1051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2B2B2B"/>
                </a:solidFill>
                <a:latin typeface="맑은 고딕"/>
              </a:rPr>
              <a:t>브라질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633472"/>
            <a:ext cx="575157" cy="25603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3357" y="256032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18.5만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108960"/>
            <a:ext cx="1051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2B2B2B"/>
                </a:solidFill>
                <a:latin typeface="맑은 고딕"/>
              </a:rPr>
              <a:t>캐나다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182112"/>
            <a:ext cx="438363" cy="25603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6563" y="310896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14.1만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657600"/>
            <a:ext cx="1051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2B2B2B"/>
                </a:solidFill>
                <a:latin typeface="맑은 고딕"/>
              </a:rPr>
              <a:t>기타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3730752"/>
            <a:ext cx="189646" cy="256032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7846" y="3657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6.1만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206240"/>
            <a:ext cx="1051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2B2B2B"/>
                </a:solidFill>
                <a:latin typeface="맑은 고딕"/>
              </a:rPr>
              <a:t>멕시코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4279392"/>
            <a:ext cx="158556" cy="256032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16756" y="420624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5.1만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623560"/>
            <a:ext cx="11274552" cy="82296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692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7E55A"/>
                </a:solidFill>
                <a:latin typeface="Arial"/>
              </a:rPr>
              <a:t>KEY 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아메리카 판매의 67%가 미국에 집중 (90.2만 대). 브라질·멕시코의 현지 생산 기반(HMB)은 Tenneco 공급 확장의 핵심 레버리지.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현대 북미 및 남미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2-2. GM · Toyota · Hyundai 판매량 비교  |  2025년 기준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645920"/>
            <a:ext cx="3749039" cy="347472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7E55A"/>
                </a:solidFill>
                <a:latin typeface="Arial"/>
              </a:rPr>
              <a:t>DOMINANT LEADER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38327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731520" cy="36576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맑은 고딕"/>
              </a:rPr>
              <a:t>아메리카 총 판매량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338327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</a:rPr>
              <a:t>약 320 ~ 340만 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맑은 고딕"/>
              </a:rPr>
              <a:t>시장 지위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33832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북미 1위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80560"/>
            <a:ext cx="3383279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대형 픽업트럭과 SUV 중심의 압도적 시장 지배력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1645920"/>
            <a:ext cx="3749039" cy="347472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182880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7E55A"/>
                </a:solidFill>
                <a:latin typeface="Arial"/>
              </a:rPr>
              <a:t>HYBRID POWERHOUSE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148840"/>
            <a:ext cx="338327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TOYOTA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2971800"/>
            <a:ext cx="731520" cy="36576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310896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맑은 고딕"/>
              </a:rPr>
              <a:t>아메리카 총 판매량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3383280"/>
            <a:ext cx="338327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</a:rPr>
              <a:t>약 280 ~ 300만 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88620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맑은 고딕"/>
              </a:rPr>
              <a:t>시장 지위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114800"/>
            <a:ext cx="33832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하이브리드 1위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4480560"/>
            <a:ext cx="3383279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하이브리드 절대 강자. 북미·남미 모두에서 높은 신뢰도 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58" y="1645920"/>
            <a:ext cx="3749039" cy="3474720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38" y="182880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7E55A"/>
                </a:solidFill>
                <a:latin typeface="Arial"/>
              </a:rPr>
              <a:t>FASTEST GROWING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8" y="2148840"/>
            <a:ext cx="338327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HYUNDAI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38" y="2971800"/>
            <a:ext cx="731520" cy="36576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38" y="310896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맑은 고딕"/>
              </a:rPr>
              <a:t>아메리카 총 판매량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8" y="3383280"/>
            <a:ext cx="338327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</a:rPr>
              <a:t>약 134만 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8" y="388620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맑은 고딕"/>
              </a:rPr>
              <a:t>시장 지위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8" y="4114800"/>
            <a:ext cx="33832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성장세 1위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8" y="4480560"/>
            <a:ext cx="3383279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전기차 및 SUV 라인업 강화를 통해 추격 중. Tenneco의 주력 고객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03520"/>
            <a:ext cx="11274552" cy="109728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3949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■ 전략적 해석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7150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현대차는 GM·Toyota 대비 절대 판매량은 낮지만 성장률·전동화 속도·신규 플랫폼(EV GMP) 기준으로 가장 공격적. Tenneco 입장에서 중장기 볼륨 확대 여지가 가장 큰 OEM.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65760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0" b="1" i="0">
                <a:solidFill>
                  <a:srgbClr val="D7E55A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377440"/>
            <a:ext cx="7315200" cy="73152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현대에서의 Tenneco 점유율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20040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D7E55A"/>
                </a:solidFill>
                <a:latin typeface="Arial"/>
              </a:rPr>
              <a:t>Tenneco Business Ratio in Hyundai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7E55A"/>
                </a:solidFill>
                <a:latin typeface="Arial"/>
              </a:rPr>
              <a:t>TENNECO × HYUNDAI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Arial"/>
              </a:rPr>
              <a:t>— 8 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현대에서의 Tenneco 점유율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3. Tenneco Business Ratio in Hyundai  |  공급사별 점유 현황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■ 현대/기아 섀시 댐퍼 공급사 점유율 (추정)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3685032" cy="54864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3685032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Mando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65%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2232" y="2103120"/>
            <a:ext cx="1020470" cy="54864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2232" y="2103120"/>
            <a:ext cx="102047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ZF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18%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2702" y="2103120"/>
            <a:ext cx="566928" cy="548640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2702" y="2103120"/>
            <a:ext cx="56692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Bilstein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10%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29630" y="2103120"/>
            <a:ext cx="396849" cy="54864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9630" y="2103120"/>
            <a:ext cx="396849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E4357"/>
                </a:solidFill>
                <a:latin typeface="맑은 고딕"/>
              </a:rPr>
              <a:t>Tenneco</a:t>
            </a:r>
          </a:p>
          <a:p>
            <a:pPr algn="ctr"/>
            <a:r>
              <a:rPr sz="1100" b="1" i="0">
                <a:solidFill>
                  <a:srgbClr val="0E4357"/>
                </a:solidFill>
                <a:latin typeface="맑은 고딕"/>
              </a:rPr>
              <a:t>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* 추정치: Mando 국내 현대/기아 기본 섀시 독점 + ZF(Genesis/Ioniq6 N) · Bilstein(High-end) · Tenneco(초기 진입)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■ 공급 영역 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137160" cy="36576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118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Arial"/>
              </a:rPr>
              <a:t>Mando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61188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현대/기아 기본 섀시의 대부분 (ICE/EV 공용 Conventional + Semi-active)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137160" cy="36576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0233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Arial"/>
              </a:rPr>
              <a:t>ZF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02336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Genesis Entry-Level, Ioniq6 N (Semi-active ECS)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34840"/>
            <a:ext cx="137160" cy="365760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43484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Arial"/>
              </a:rPr>
              <a:t>Bilstein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43484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Genesis High-end (Air shock + ECS) 전용 포지션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137160" cy="36576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8463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Arial"/>
              </a:rPr>
              <a:t>Tenneco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484632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초기 진입 단계 — CVSA2 Demo Car 검증 단계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554480"/>
            <a:ext cx="5330952" cy="438912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169164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7E55A"/>
                </a:solidFill>
                <a:latin typeface="Arial"/>
              </a:rPr>
              <a:t>OPPORTUNITY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01168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Tenneco의 점유 확장 여지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0" y="2743200"/>
            <a:ext cx="1645920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0" y="292608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7E55A"/>
                </a:solidFill>
                <a:latin typeface="맑은 고딕"/>
              </a:rPr>
              <a:t>▲ 2-Valve MacPherson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2004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현대가 차기 제품에 요구하는 핵심 기술 — Tenneco만 보유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538728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7E55A"/>
                </a:solidFill>
                <a:latin typeface="맑은 고딕"/>
              </a:rPr>
              <a:t>▲ 가격 경쟁력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813048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ZF·Bilstein 대비 HMC가 합리적이라 평가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151376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7E55A"/>
                </a:solidFill>
                <a:latin typeface="맑은 고딕"/>
              </a:rPr>
              <a:t>▲ Golf 유럽 시승 호평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4425696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2025년 4월 HMC 엔지니어 긍정 반응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764024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7E55A"/>
                </a:solidFill>
                <a:latin typeface="맑은 고딕"/>
              </a:rPr>
              <a:t>▲ VP Manfred Harrer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5038344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유럽 공급사 선호 기조 확립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376672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7E55A"/>
                </a:solidFill>
                <a:latin typeface="맑은 고딕"/>
              </a:rPr>
              <a:t>▲ N → Genesis 수직 확산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5650992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N Brand 검증 시 Genesis 자동 이관 구조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현재 Tenneco 점유율은 한 자릿수 초기 진입. CVSA2 Ioniq6 N RFQ 확정 시 두 자릿수 급상승 가능.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