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E40AF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8B95A1"/>
              </a:solidFill>
            </c:spPr>
          </c:dPt>
          <c:cat>
            <c:strRef>
              <c:f>Sheet1!$A$2:$A$4</c:f>
              <c:strCache>
                <c:ptCount val="3"/>
                <c:pt idx="0">
                  <c:v>GM (320~340만)</c:v>
                </c:pt>
                <c:pt idx="1">
                  <c:v>Toyota (280~300만)</c:v>
                </c:pt>
                <c:pt idx="2">
                  <c:v>Hyundai (134만)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330</c:v>
                </c:pt>
                <c:pt idx="1">
                  <c:v>290</c:v>
                </c:pt>
                <c:pt idx="2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Arial"/>
              </a:rPr>
              <a:t>TENNECO × HYUNDAI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91440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0" i="0">
                <a:solidFill>
                  <a:srgbClr val="6B7684"/>
                </a:solidFill>
                <a:latin typeface="맑은 고딕"/>
              </a:rPr>
              <a:t>Hyundai Motor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191F28"/>
                </a:solidFill>
                <a:latin typeface="맑은 고딕"/>
              </a:rPr>
              <a:t>프로젝트 현황</a:t>
            </a:r>
          </a:p>
          <a:p>
            <a:pPr algn="l">
              <a:lnSpc>
                <a:spcPct val="110000"/>
              </a:lnSpc>
            </a:pPr>
            <a:r>
              <a:rPr sz="5800" b="1" i="0">
                <a:solidFill>
                  <a:srgbClr val="191F28"/>
                </a:solidFill>
                <a:latin typeface="맑은 고딕"/>
              </a:rPr>
              <a:t>공략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457200" cy="3657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9144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684"/>
                </a:solidFill>
                <a:latin typeface="Arial"/>
              </a:rPr>
              <a:t>Internal Seminar  ·  US Headquarters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8B95A1"/>
                </a:solidFill>
                <a:latin typeface="Arial"/>
              </a:rPr>
              <a:t>2026.04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0684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0684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0684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692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4692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692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4692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6696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6696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6696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6696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700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8700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8700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8700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0704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60704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0704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27080" y="73152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27080" y="105156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27080" y="1371600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27080" y="1691639"/>
            <a:ext cx="91440" cy="9144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5486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91F28"/>
                </a:solidFill>
                <a:latin typeface="맑은 고딕"/>
              </a:rPr>
              <a:t>목차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828800"/>
            <a:ext cx="7315200" cy="0"/>
          </a:xfrm>
          <a:prstGeom prst="line">
            <a:avLst/>
          </a:prstGeom>
          <a:ln w="9525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0312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30552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91F28"/>
                </a:solidFill>
                <a:latin typeface="맑은 고딕"/>
              </a:rPr>
              <a:t>현대 글로벌 시장 판매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684"/>
                </a:solidFill>
                <a:latin typeface="Arial"/>
              </a:rPr>
              <a:t>Hyundai Global Market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79192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91F28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684"/>
                </a:solidFill>
                <a:latin typeface="Arial"/>
              </a:rPr>
              <a:t>N.America &amp; S.America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27832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91F28"/>
                </a:solidFill>
                <a:latin typeface="맑은 고딕"/>
              </a:rPr>
              <a:t>현대에서의 테네코 점유율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4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684"/>
                </a:solidFill>
                <a:latin typeface="Arial"/>
              </a:rPr>
              <a:t>Tenneco Business Ratio in HMC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76472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91F28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6908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684"/>
                </a:solidFill>
                <a:latin typeface="Arial"/>
              </a:rPr>
              <a:t>Supply Programs  ·  CN · IN · 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25112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91F28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177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684"/>
                </a:solidFill>
                <a:latin typeface="Arial"/>
              </a:rPr>
              <a:t>Competitor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73752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91F28"/>
                </a:solidFill>
                <a:latin typeface="맑은 고딕"/>
              </a:rPr>
              <a:t>현대 공략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6636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684"/>
                </a:solidFill>
                <a:latin typeface="Arial"/>
              </a:rPr>
              <a:t>Attack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E40AF"/>
                </a:solidFill>
                <a:latin typeface="Arial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22392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91F28"/>
                </a:solidFill>
                <a:latin typeface="맑은 고딕"/>
              </a:rPr>
              <a:t>Q&amp;A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1500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684"/>
                </a:solidFill>
                <a:latin typeface="Arial"/>
              </a:rPr>
              <a:t>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현대는 2025년, 414만 대를 팔았다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Hyundai Global Market Share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2025 GLOBAL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48640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600" b="1" i="0">
                <a:solidFill>
                  <a:srgbClr val="1E40AF"/>
                </a:solidFill>
                <a:latin typeface="Arial"/>
              </a:rPr>
              <a:t>414만 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B7684"/>
                </a:solidFill>
                <a:latin typeface="Arial"/>
              </a:rPr>
              <a:t>Total Wholesale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5303520" cy="12801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73152" cy="12801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5029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91F28"/>
                </a:solidFill>
                <a:latin typeface="맑은 고딕"/>
              </a:rPr>
              <a:t>지정학·경기 변동 속에서도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91F28"/>
                </a:solidFill>
                <a:latin typeface="맑은 고딕"/>
              </a:rPr>
              <a:t>북미 역대 최대 + 인도 견조한 성장으로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91F28"/>
                </a:solidFill>
                <a:latin typeface="맑은 고딕"/>
              </a:rPr>
              <a:t>글로벌 판매 비중 성공적 다변화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BY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맑은 고딕"/>
              </a:rPr>
              <a:t>아시아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057400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7684"/>
                </a:solidFill>
                <a:latin typeface="Arial"/>
              </a:rPr>
              <a:t>146만 대  ·  35.3%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377440"/>
            <a:ext cx="5303520" cy="18288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5303520" cy="18288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15768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맑은 고딕"/>
              </a:rPr>
              <a:t>아메리카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15768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7684"/>
                </a:solidFill>
                <a:latin typeface="Arial"/>
              </a:rPr>
              <a:t>134만 대  ·  32.4%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35808"/>
            <a:ext cx="5303520" cy="18288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035808"/>
            <a:ext cx="4879238" cy="18288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374136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맑은 고딕"/>
              </a:rPr>
              <a:t>기타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374136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7684"/>
                </a:solidFill>
                <a:latin typeface="Arial"/>
              </a:rPr>
              <a:t>73만 대  ·  17.6%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303520" cy="18288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694176"/>
            <a:ext cx="2651760" cy="18288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32504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맑은 고딕"/>
              </a:rPr>
              <a:t>유럽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032504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7684"/>
                </a:solidFill>
                <a:latin typeface="Arial"/>
              </a:rPr>
              <a:t>61만 대  ·  14.7%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52544"/>
            <a:ext cx="5303520" cy="18288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4352544"/>
            <a:ext cx="2227478" cy="18288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49240"/>
            <a:ext cx="11064240" cy="18288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684"/>
                </a:solidFill>
                <a:latin typeface="Arial"/>
              </a:rPr>
              <a:t>TENNECO GLOBAL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E40AF"/>
                </a:solidFill>
                <a:latin typeface="Arial"/>
              </a:rPr>
              <a:t>60,000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91072"/>
            <a:ext cx="2743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Arial"/>
              </a:rPr>
              <a:t>Global Team Members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760720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E40AF"/>
                </a:solidFill>
                <a:latin typeface="Arial"/>
              </a:rPr>
              <a:t>184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6291072"/>
            <a:ext cx="2743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Arial"/>
              </a:rPr>
              <a:t>Manufacturing Plants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760720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E40AF"/>
                </a:solidFill>
                <a:latin typeface="Arial"/>
              </a:rPr>
              <a:t>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6291072"/>
            <a:ext cx="2743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Arial"/>
              </a:rPr>
              <a:t>Distribution Centers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60720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E40AF"/>
                </a:solidFill>
                <a:latin typeface="Arial"/>
              </a:rPr>
              <a:t>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6291072"/>
            <a:ext cx="2743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Arial"/>
              </a:rPr>
              <a:t>Engineering Facilities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북미·남미 합계 134만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Hyundai N.America &amp; S.America Market ·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5836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1481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1481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1481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1481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1481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2560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2560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2560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2560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2560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3639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3639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3639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63639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63639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04718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04718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04718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04718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04718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5797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45797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45797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45797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45797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86875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86875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86875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86875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86875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27954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27954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727954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727954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27954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69033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69033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69033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69033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69033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3155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3155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54556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54556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495958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495958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37360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737360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76502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76502" y="4123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74012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74012" y="4123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71523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71523" y="4123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605686" y="42611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05686" y="44622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605686" y="466344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05686" y="486460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05686" y="506577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605686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781251" y="42611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781251" y="44622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781251" y="466344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781251" y="486460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781251" y="506577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781251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956816" y="42611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956816" y="44622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956816" y="466344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956816" y="486460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956816" y="506577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956816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132380" y="42611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132380" y="44622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132380" y="466344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132380" y="486460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132380" y="506577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132380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37360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737360" y="54955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737360" y="5724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000707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000707" y="54955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000707" y="5724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317443" y="2752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317443" y="29504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317443" y="3148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317443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449116" y="2752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449116" y="29504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449116" y="3148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449116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580790" y="2752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580790" y="29504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80790" y="3148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580790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712464" y="2752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712464" y="29504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712464" y="3148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712464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844137" y="2752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844137" y="29504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844137" y="3148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844137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975811" y="2752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975811" y="29504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975811" y="3148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975811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107484" y="2752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107484" y="29504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107484" y="3148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107484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580790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580790" y="376732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580790" y="40050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580790" y="424281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580790" y="448056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580790" y="4718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745382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745382" y="376732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745382" y="40050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745382" y="424281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745382" y="448056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745382" y="4718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909974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909974" y="376732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909974" y="40050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909974" y="424281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909974" y="448056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909974" y="4718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074566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074566" y="376732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074566" y="40050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074566" y="424281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074566" y="448056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074566" y="4718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239158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239158" y="3767328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239158" y="4005072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239158" y="4242816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239158" y="4480560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239158" y="4718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041648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041648" y="3575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041648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195267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195267" y="3575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195267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348886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348886" y="3575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348886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502505" y="33467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502505" y="35753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502505" y="38039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370832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370832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370832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370832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370832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517136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517136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517136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517136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517136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663440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663440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663440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663440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663440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809744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809744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809744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809744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809744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956048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956048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956048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956048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956048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102352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102352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102352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102352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102352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248656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248656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248656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248656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248656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394960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394960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5394960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5394960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394960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5541264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5541264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5541264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541264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541264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687568" y="2615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687568" y="28209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687568" y="302666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687568" y="323240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687568" y="34381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700016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700016" y="3758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700016" y="39867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897526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897526" y="3758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897526" y="39867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095036" y="35295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095036" y="37581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095036" y="398678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5226710" y="36210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226710" y="38496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226710" y="40782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424220" y="36210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5424220" y="38496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5424220" y="40782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5621731" y="36210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621731" y="38496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621731" y="40782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819241" y="36210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5819241" y="38496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819241" y="407822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687568" y="48097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687568" y="5038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87568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863132" y="48097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5863132" y="5038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5863132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6038697" y="48097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6038697" y="5038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6038697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6214262" y="48097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214262" y="50383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6214262" y="5266944"/>
            <a:ext cx="73152" cy="731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69924" y="2624328"/>
            <a:ext cx="1152144" cy="1152144"/>
          </a:xfrm>
          <a:prstGeom prst="ellipse">
            <a:avLst/>
          </a:prstGeom>
          <a:solidFill>
            <a:srgbClr val="FDE047"/>
            <a:alpha val="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43076" y="2697480"/>
            <a:ext cx="1005840" cy="1005840"/>
          </a:xfrm>
          <a:prstGeom prst="ellipse">
            <a:avLst/>
          </a:prstGeom>
          <a:solidFill>
            <a:srgbClr val="FDE047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523036" y="309067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Arial"/>
              </a:rPr>
              <a:t>UNITED</a:t>
            </a:r>
          </a:p>
          <a:p>
            <a:pPr algn="ctr"/>
            <a:r>
              <a:rPr sz="1000" b="1" i="0">
                <a:solidFill>
                  <a:srgbClr val="191F28"/>
                </a:solidFill>
                <a:latin typeface="Arial"/>
              </a:rPr>
              <a:t>STATES</a:t>
            </a:r>
          </a:p>
        </p:txBody>
      </p:sp>
      <p:sp>
        <p:nvSpPr>
          <p:cNvPr id="246" name="Oval 245"/>
          <p:cNvSpPr/>
          <p:nvPr/>
        </p:nvSpPr>
        <p:spPr>
          <a:xfrm>
            <a:off x="1218895" y="3607308"/>
            <a:ext cx="649224" cy="649224"/>
          </a:xfrm>
          <a:prstGeom prst="ellipse">
            <a:avLst/>
          </a:prstGeom>
          <a:solidFill>
            <a:srgbClr val="FDE047"/>
            <a:alpha val="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292047" y="3680460"/>
            <a:ext cx="502920" cy="502920"/>
          </a:xfrm>
          <a:prstGeom prst="ellipse">
            <a:avLst/>
          </a:prstGeom>
          <a:solidFill>
            <a:srgbClr val="FDE047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20547" y="382219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91F28"/>
                </a:solidFill>
                <a:latin typeface="Arial"/>
              </a:rPr>
              <a:t>MEXICO</a:t>
            </a:r>
          </a:p>
        </p:txBody>
      </p:sp>
      <p:sp>
        <p:nvSpPr>
          <p:cNvPr id="249" name="Oval 248"/>
          <p:cNvSpPr/>
          <p:nvPr/>
        </p:nvSpPr>
        <p:spPr>
          <a:xfrm>
            <a:off x="1611172" y="4544568"/>
            <a:ext cx="786384" cy="786384"/>
          </a:xfrm>
          <a:prstGeom prst="ellipse">
            <a:avLst/>
          </a:prstGeom>
          <a:solidFill>
            <a:srgbClr val="FDE047"/>
            <a:alpha val="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684324" y="4617720"/>
            <a:ext cx="640080" cy="640080"/>
          </a:xfrm>
          <a:prstGeom prst="ellipse">
            <a:avLst/>
          </a:prstGeom>
          <a:solidFill>
            <a:srgbClr val="FDE047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181404" y="482803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91F28"/>
                </a:solidFill>
                <a:latin typeface="Arial"/>
              </a:rPr>
              <a:t>BRAZIL</a:t>
            </a:r>
          </a:p>
        </p:txBody>
      </p:sp>
      <p:sp>
        <p:nvSpPr>
          <p:cNvPr id="252" name="Oval 251"/>
          <p:cNvSpPr/>
          <p:nvPr/>
        </p:nvSpPr>
        <p:spPr>
          <a:xfrm>
            <a:off x="1122883" y="2304288"/>
            <a:ext cx="512064" cy="512064"/>
          </a:xfrm>
          <a:prstGeom prst="ellipse">
            <a:avLst/>
          </a:prstGeom>
          <a:solidFill>
            <a:srgbClr val="FDE047"/>
            <a:alpha val="3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96035" y="2377440"/>
            <a:ext cx="365760" cy="365760"/>
          </a:xfrm>
          <a:prstGeom prst="ellipse">
            <a:avLst/>
          </a:prstGeom>
          <a:solidFill>
            <a:srgbClr val="FDE047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55955" y="245059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CANADA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315200" y="169164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2025 · AMERICAS BREAKDOWN</a:t>
            </a:r>
          </a:p>
        </p:txBody>
      </p:sp>
      <p:graphicFrame>
        <p:nvGraphicFramePr>
          <p:cNvPr id="256" name="Table 255"/>
          <p:cNvGraphicFramePr>
            <a:graphicFrameLocks noGrp="1"/>
          </p:cNvGraphicFramePr>
          <p:nvPr/>
        </p:nvGraphicFramePr>
        <p:xfrm>
          <a:off x="7315200" y="2011680"/>
          <a:ext cx="4389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88"/>
                <a:gridCol w="1463040"/>
                <a:gridCol w="1365504"/>
                <a:gridCol w="780288"/>
              </a:tblGrid>
              <a:tr h="509451"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국가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판매량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09451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약 90.2만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21.8%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Canada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약 14.1만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Mexico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약 5.1만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남미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Brazil (HMB)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약 18.5만 대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4.5%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9451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약 6.1만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약 134만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32.4%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7" name="Rounded Rectangle 256"/>
          <p:cNvSpPr/>
          <p:nvPr/>
        </p:nvSpPr>
        <p:spPr>
          <a:xfrm>
            <a:off x="7315200" y="5715000"/>
            <a:ext cx="438912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7498079" y="5806440"/>
            <a:ext cx="4114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E61"/>
                </a:solidFill>
                <a:latin typeface="맑은 고딕"/>
              </a:rPr>
              <a:t>💡 Brazil HMB = 18.5만 대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498079" y="6080760"/>
            <a:ext cx="4114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남미는 Tenneco가 이미 점유 확장 중인 시장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가장 작지만, 가장 빠르다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Hyundai vs. GM · Toyota — America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AMERICAS VOLUME SHARE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96596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737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MARKET 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7607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48840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91F28"/>
                </a:solidFill>
                <a:latin typeface="Arial"/>
              </a:rPr>
              <a:t>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91F28"/>
                </a:solidFill>
                <a:latin typeface="Arial"/>
              </a:rPr>
              <a:t>320–340만 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19456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6B7684"/>
                </a:solidFill>
                <a:latin typeface="맑은 고딕"/>
              </a:rPr>
              <a:t>북미 1위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514600"/>
            <a:ext cx="21031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684"/>
                </a:solidFill>
                <a:latin typeface="맑은 고딕"/>
              </a:rPr>
              <a:t>대형 픽업트럭 · SUV 중심의</a:t>
            </a:r>
          </a:p>
          <a:p>
            <a:pPr algn="r"/>
            <a:r>
              <a:rPr sz="1000" b="0" i="0">
                <a:solidFill>
                  <a:srgbClr val="6B7684"/>
                </a:solidFill>
                <a:latin typeface="맑은 고딕"/>
              </a:rPr>
              <a:t>압도적 시장 지배력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538728"/>
            <a:ext cx="57607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75888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91F28"/>
                </a:solidFill>
                <a:latin typeface="Arial"/>
              </a:rPr>
              <a:t>Toyota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995928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91F28"/>
                </a:solidFill>
                <a:latin typeface="Arial"/>
              </a:rPr>
              <a:t>280–300만 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721608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6B7684"/>
                </a:solidFill>
                <a:latin typeface="맑은 고딕"/>
              </a:rPr>
              <a:t>하이브리드 절대 강자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41648"/>
            <a:ext cx="21031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684"/>
                </a:solidFill>
                <a:latin typeface="맑은 고딕"/>
              </a:rPr>
              <a:t>북미·남미 모두에서</a:t>
            </a:r>
          </a:p>
          <a:p>
            <a:pPr algn="r"/>
            <a:r>
              <a:rPr sz="1000" b="0" i="0">
                <a:solidFill>
                  <a:srgbClr val="6B7684"/>
                </a:solidFill>
                <a:latin typeface="맑은 고딕"/>
              </a:rPr>
              <a:t>높은 신뢰도 보유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5065776"/>
            <a:ext cx="5760720" cy="14173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5065776"/>
            <a:ext cx="73152" cy="1417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202936"/>
            <a:ext cx="1828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Arial"/>
              </a:rPr>
              <a:t>Hyundai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522976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F2E61"/>
                </a:solidFill>
                <a:latin typeface="Arial"/>
              </a:rPr>
              <a:t>134만 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248656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6B7684"/>
                </a:solidFill>
                <a:latin typeface="맑은 고딕"/>
              </a:rPr>
              <a:t>가장 빠른 성장세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568696"/>
            <a:ext cx="21031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B7684"/>
                </a:solidFill>
                <a:latin typeface="맑은 고딕"/>
              </a:rPr>
              <a:t>전기차 · SUV 라인업 강화</a:t>
            </a:r>
          </a:p>
          <a:p>
            <a:pPr algn="r"/>
            <a:r>
              <a:rPr sz="1000" b="0" i="0">
                <a:solidFill>
                  <a:srgbClr val="6B7684"/>
                </a:solidFill>
                <a:latin typeface="맑은 고딕"/>
              </a:rPr>
              <a:t>공격적 추격 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400800"/>
            <a:ext cx="5760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2E61"/>
                </a:solidFill>
                <a:latin typeface="맑은 고딕"/>
              </a:rPr>
              <a:t>📈  Volume이 아니라 성장률에 주목하라.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현대 섀시 시장의 95%는 경쟁사가 쥐고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Tenneco Business Ratio in Hyundai — 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Arial"/>
              </a:rPr>
              <a:t>TENNECO +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57200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DC2626"/>
                </a:solidFill>
                <a:latin typeface="Arial"/>
              </a:rPr>
              <a:t>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Tenneco가 점유 중인 비중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MARKET SHARE BREAKDOWN</a:t>
            </a:r>
          </a:p>
        </p:txBody>
      </p:sp>
      <p:sp>
        <p:nvSpPr>
          <p:cNvPr id="9" name="Oval 8"/>
          <p:cNvSpPr/>
          <p:nvPr/>
        </p:nvSpPr>
        <p:spPr>
          <a:xfrm>
            <a:off x="5669280" y="2194560"/>
            <a:ext cx="128016" cy="128016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48840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맑은 고딕"/>
              </a:rPr>
              <a:t>Mando 65%</a:t>
            </a:r>
          </a:p>
        </p:txBody>
      </p:sp>
      <p:sp>
        <p:nvSpPr>
          <p:cNvPr id="11" name="Oval 10"/>
          <p:cNvSpPr/>
          <p:nvPr/>
        </p:nvSpPr>
        <p:spPr>
          <a:xfrm>
            <a:off x="7360920" y="2194560"/>
            <a:ext cx="128016" cy="1280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148840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맑은 고딕"/>
              </a:rPr>
              <a:t>ZF 30%</a:t>
            </a:r>
          </a:p>
        </p:txBody>
      </p:sp>
      <p:sp>
        <p:nvSpPr>
          <p:cNvPr id="13" name="Oval 12"/>
          <p:cNvSpPr/>
          <p:nvPr/>
        </p:nvSpPr>
        <p:spPr>
          <a:xfrm>
            <a:off x="9052560" y="219456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148840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맑은 고딕"/>
              </a:rPr>
              <a:t>Tenneco+ 5%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651760"/>
            <a:ext cx="6035040" cy="64008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2651760"/>
            <a:ext cx="3922776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92056" y="2651760"/>
            <a:ext cx="1810512" cy="640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02568" y="2651760"/>
            <a:ext cx="301752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80360"/>
            <a:ext cx="3922776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Mando  ·  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2880360"/>
            <a:ext cx="181051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ZF  ·  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657600"/>
            <a:ext cx="201168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37947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Arial"/>
              </a:rPr>
              <a:t>Mando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4069080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맑은 고딕"/>
              </a:rPr>
              <a:t>Volume Dominant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4663440"/>
            <a:ext cx="173736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단가 경쟁력 + 국내 생산 허브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전 차종 대응 인프라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3657600"/>
            <a:ext cx="201168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6992" y="37947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Arial"/>
              </a:rPr>
              <a:t>ZF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069080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맑은 고딕"/>
              </a:rPr>
              <a:t>Premium Segment Leader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663440"/>
            <a:ext cx="173736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Air Suspension · 고성능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Hyundai 프리미엄화 전략에 합치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3657600"/>
            <a:ext cx="201168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3794760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Arial"/>
              </a:rPr>
              <a:t>New Entrants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4069080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맑은 고딕"/>
              </a:rPr>
              <a:t>Bilstein · S&amp;T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4663440"/>
            <a:ext cx="173736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Bilstein: GV90 플래그십 EV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S&amp;T: Compact car 진입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172200"/>
            <a:ext cx="11155680" cy="36576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F2E61"/>
                </a:solidFill>
                <a:latin typeface="맑은 고딕"/>
              </a:rPr>
              <a:t>💡  Mando가 볼륨을, ZF가 프리미엄을 지배 — Tenneco 포지셔닝 재정의가 필요하다.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우리는 이미 9개 프로그램에서 현대와 함께한다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4-1.  테네코에서의 현대 공급 프로그램  ·  CN · IN · 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CHINA  ·  4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292608" cy="182880"/>
          </a:xfrm>
          <a:prstGeom prst="rect">
            <a:avLst/>
          </a:prstGeom>
          <a:solidFill>
            <a:srgbClr val="DE2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299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CHINA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24231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24231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2423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IX25 · 2014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92024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20574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8728" y="2057400"/>
            <a:ext cx="292608" cy="182880"/>
          </a:xfrm>
          <a:prstGeom prst="rect">
            <a:avLst/>
          </a:prstGeom>
          <a:solidFill>
            <a:srgbClr val="DE2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7056" y="20299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CHINA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8728" y="2286000"/>
            <a:ext cx="24231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2286000"/>
            <a:ext cx="24231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9718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YC FL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227832"/>
            <a:ext cx="2423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Verna · 2019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192024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91656" y="20574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91656" y="2057400"/>
            <a:ext cx="292608" cy="182880"/>
          </a:xfrm>
          <a:prstGeom prst="rect">
            <a:avLst/>
          </a:prstGeom>
          <a:solidFill>
            <a:srgbClr val="DE2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20299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CHINA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1656" y="2286000"/>
            <a:ext cx="24231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2286000"/>
            <a:ext cx="24231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29718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ADC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227832"/>
            <a:ext cx="2423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Elantra 6th · 2016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192024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44584" y="20574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44584" y="2057400"/>
            <a:ext cx="292608" cy="182880"/>
          </a:xfrm>
          <a:prstGeom prst="rect">
            <a:avLst/>
          </a:prstGeom>
          <a:solidFill>
            <a:srgbClr val="DE2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2912" y="20299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CHINA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44584" y="2286000"/>
            <a:ext cx="24231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2286000"/>
            <a:ext cx="24231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29718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CN7c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3227832"/>
            <a:ext cx="2423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Elantra 7th ·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657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INDIA  ·  2 projects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97764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41148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4114800"/>
            <a:ext cx="292608" cy="6096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4175760"/>
            <a:ext cx="292608" cy="60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4236720"/>
            <a:ext cx="292608" cy="6096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" y="40873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INDIA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343400"/>
            <a:ext cx="24231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343400"/>
            <a:ext cx="24231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0292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QXI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285232"/>
            <a:ext cx="2423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Venue · 2019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01568" y="397764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38728" y="41148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38728" y="4114800"/>
            <a:ext cx="292608" cy="6096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38728" y="4175760"/>
            <a:ext cx="292608" cy="60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38728" y="4236720"/>
            <a:ext cx="292608" cy="6096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77056" y="40873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INDIA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38728" y="4343400"/>
            <a:ext cx="24231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38728" y="4343400"/>
            <a:ext cx="24231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38728" y="502920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BI3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38728" y="5285232"/>
            <a:ext cx="24231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Elite i20 · 2020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36576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BRAZIL  ·  3 projects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3977640"/>
            <a:ext cx="17830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46520" y="41148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46520" y="4114800"/>
            <a:ext cx="292608" cy="91440"/>
          </a:xfrm>
          <a:prstGeom prst="rect">
            <a:avLst/>
          </a:prstGeom>
          <a:solidFill>
            <a:srgbClr val="009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46520" y="4206240"/>
            <a:ext cx="292608" cy="91440"/>
          </a:xfrm>
          <a:prstGeom prst="rect">
            <a:avLst/>
          </a:prstGeom>
          <a:solidFill>
            <a:srgbClr val="FE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4848" y="40873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BRAZIL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4343400"/>
            <a:ext cx="15087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4343400"/>
            <a:ext cx="15087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029200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BR2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5285232"/>
            <a:ext cx="15087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HB20 · 2022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02168" y="3977640"/>
            <a:ext cx="17830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339328" y="41148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39328" y="4114800"/>
            <a:ext cx="292608" cy="91440"/>
          </a:xfrm>
          <a:prstGeom prst="rect">
            <a:avLst/>
          </a:prstGeom>
          <a:solidFill>
            <a:srgbClr val="009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339328" y="4206240"/>
            <a:ext cx="292608" cy="91440"/>
          </a:xfrm>
          <a:prstGeom prst="rect">
            <a:avLst/>
          </a:prstGeom>
          <a:solidFill>
            <a:srgbClr val="FE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77656" y="40873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BRAZIL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39328" y="4343400"/>
            <a:ext cx="15087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39328" y="4343400"/>
            <a:ext cx="15087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9328" y="5029200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SU2b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8" y="5285232"/>
            <a:ext cx="15087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Creta · 2023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094976" y="3977640"/>
            <a:ext cx="1783080" cy="15544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32136" y="4114800"/>
            <a:ext cx="29260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232136" y="4114800"/>
            <a:ext cx="292608" cy="91440"/>
          </a:xfrm>
          <a:prstGeom prst="rect">
            <a:avLst/>
          </a:prstGeom>
          <a:solidFill>
            <a:srgbClr val="009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232136" y="4206240"/>
            <a:ext cx="292608" cy="91440"/>
          </a:xfrm>
          <a:prstGeom prst="rect">
            <a:avLst/>
          </a:prstGeom>
          <a:solidFill>
            <a:srgbClr val="FE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70464" y="4087368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684"/>
                </a:solidFill>
                <a:latin typeface="Arial"/>
              </a:rPr>
              <a:t>BRAZIL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283696" y="409651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83696" y="409651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232136" y="4343400"/>
            <a:ext cx="1508760" cy="5943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32136" y="4343400"/>
            <a:ext cx="15087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8B95A1"/>
                </a:solidFill>
                <a:latin typeface="맑은 고딕"/>
              </a:rPr>
              <a:t>🚗 차량사진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32136" y="5029200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91F28"/>
                </a:solidFill>
                <a:latin typeface="Arial"/>
              </a:rPr>
              <a:t>BC4b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32136" y="5285232"/>
            <a:ext cx="150876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맑은 고딕"/>
              </a:rPr>
              <a:t>New · 2026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585216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7240" y="5943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GLOBAL FOOTPRINT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" y="617220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2E61"/>
                </a:solidFill>
                <a:latin typeface="맑은 고딕"/>
              </a:rPr>
              <a:t>총 9개 프로그램 · 3대륙 동시 대응 체제 — BC4b (브라질, 2026) 신규 양산 예정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5년간 누적 146만 대의 공급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4-2.  Program Vehicle Volume  ·  Sales by Country (2023~2027)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CUMULATIVE VOLUME · 5Y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194560"/>
            <a:ext cx="34747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4480" y="2194560"/>
            <a:ext cx="347472" cy="109728"/>
          </a:xfrm>
          <a:prstGeom prst="rect">
            <a:avLst/>
          </a:prstGeom>
          <a:solidFill>
            <a:srgbClr val="009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2304288"/>
            <a:ext cx="347472" cy="109728"/>
          </a:xfrm>
          <a:prstGeom prst="rect">
            <a:avLst/>
          </a:prstGeom>
          <a:solidFill>
            <a:srgbClr val="FED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14884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91F28"/>
                </a:solidFill>
                <a:latin typeface="Arial"/>
              </a:rPr>
              <a:t>BRAZIL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68880"/>
            <a:ext cx="3657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F2E61"/>
                </a:solidFill>
                <a:latin typeface="Arial"/>
              </a:rPr>
              <a:t>899,400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44952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Arial"/>
              </a:rPr>
              <a:t>5-year cumulative · BR2 · SU2b · BC4b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1E40AF"/>
                </a:solidFill>
                <a:latin typeface="Arial"/>
              </a:rPr>
              <a:t>61.5%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60604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7684"/>
                </a:solidFill>
                <a:latin typeface="Arial"/>
              </a:rPr>
              <a:t>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749040"/>
            <a:ext cx="34747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3749040"/>
            <a:ext cx="347472" cy="7315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54480" y="38221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54480" y="3895344"/>
            <a:ext cx="347472" cy="73152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703320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91F28"/>
                </a:solidFill>
                <a:latin typeface="Arial"/>
              </a:rPr>
              <a:t>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23360"/>
            <a:ext cx="3657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3B82F6"/>
                </a:solidFill>
                <a:latin typeface="Arial"/>
              </a:rPr>
              <a:t>562,140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99432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684"/>
                </a:solidFill>
                <a:latin typeface="Arial"/>
              </a:rPr>
              <a:t>5-year cumulative · BI3 · Qxi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886200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Arial"/>
              </a:rPr>
              <a:t>38.5%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160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B7684"/>
                </a:solidFill>
                <a:latin typeface="Arial"/>
              </a:rPr>
              <a:t>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5486400" cy="5943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12080"/>
            <a:ext cx="18288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E61"/>
                </a:solidFill>
                <a:latin typeface="Arial"/>
              </a:rP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120640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E61"/>
                </a:solidFill>
                <a:latin typeface="Arial"/>
              </a:rPr>
              <a:t>1,461,540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239512"/>
            <a:ext cx="822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400" b="1" i="0">
                <a:solidFill>
                  <a:srgbClr val="0F2E61"/>
                </a:solidFill>
                <a:latin typeface="Arial"/>
              </a:rPr>
              <a:t>100%</a:t>
            </a:r>
          </a:p>
        </p:txBody>
      </p:sp>
      <p:sp>
        <p:nvSpPr>
          <p:cNvPr id="33" name="Oval 32"/>
          <p:cNvSpPr/>
          <p:nvPr/>
        </p:nvSpPr>
        <p:spPr>
          <a:xfrm>
            <a:off x="6748821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48821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48821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48821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748821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64427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64427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64427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64427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64427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80033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80033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80033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80033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80033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95640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95640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095640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95640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095640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11246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211246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11246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11246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11246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326852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26852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26852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326852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326852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442458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442458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442458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42458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42458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58065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558065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558065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58065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558065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856720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56720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054535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054535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252350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52350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450166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450166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072518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072518" y="39731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234367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234367" y="39731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396216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396216" y="39731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342266" y="4084259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342266" y="424720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342266" y="441015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342266" y="457309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342266" y="473604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342266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486132" y="4084259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486132" y="424720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486132" y="441015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486132" y="457309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486132" y="473604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86132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629998" y="4084259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29998" y="424720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629998" y="441015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629998" y="457309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629998" y="473604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629998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773863" y="4084259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773863" y="424720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773863" y="441015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773863" y="457309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773863" y="473604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773863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50166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50166" y="508415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50166" y="526932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665964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665964" y="508415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665964" y="526932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744956" y="28621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744956" y="302264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744956" y="31831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44956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852855" y="28621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852855" y="302264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852855" y="31831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852855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960754" y="28621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960754" y="302264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960754" y="31831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960754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068654" y="28621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068654" y="302264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068654" y="31831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068654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176553" y="28621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176553" y="302264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176553" y="31831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176553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284452" y="28621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284452" y="302264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284452" y="31831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284452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392351" y="28621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392351" y="302264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392351" y="31831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392351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960754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960754" y="368430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960754" y="387687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960754" y="406944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960754" y="42620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960754" y="445459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095628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095628" y="368430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095628" y="387687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095628" y="406944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095628" y="42620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095628" y="445459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230502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230502" y="368430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230502" y="387687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230502" y="406944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230502" y="42620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230502" y="445459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365376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365376" y="368430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365376" y="387687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365376" y="406944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365376" y="42620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365376" y="445459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500250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9500250" y="368430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500250" y="387687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9500250" y="406944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500250" y="426201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500250" y="445459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9338402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338402" y="352876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338402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464284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464284" y="352876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464284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9590166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590166" y="352876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9590166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9716049" y="3343595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9716049" y="3528761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716049" y="3713927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608150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9608150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608150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9608150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608150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728038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728038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728038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728038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728038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847926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847926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847926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847926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847926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967814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967814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967814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967814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967814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087702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0087702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0087702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0087702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087702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0207590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207590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0207590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207590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0207590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327478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327478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327478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327478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327478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447366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447366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447366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447366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447366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567254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567254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567254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567254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567254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687142" y="275106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687142" y="291771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687142" y="3084363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687142" y="325101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687142" y="3417662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77898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877898" y="367689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9877898" y="38620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039746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039746" y="367689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039746" y="38620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201595" y="349172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201595" y="367689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0201595" y="38620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0309494" y="356579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309494" y="37509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309494" y="393612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471343" y="356579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471343" y="37509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471343" y="393612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633192" y="356579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0633192" y="37509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633192" y="393612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795041" y="356579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795041" y="375096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795041" y="3936126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687142" y="452865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687142" y="471382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687142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831007" y="452865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0831007" y="471382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0831007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0974873" y="452865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974873" y="471382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0974873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1118738" y="4528658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1118738" y="4713824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1118738" y="4898990"/>
            <a:ext cx="59252" cy="59252"/>
          </a:xfrm>
          <a:prstGeom prst="ellipse">
            <a:avLst/>
          </a:prstGeom>
          <a:solidFill>
            <a:srgbClr val="CF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444130" y="4380890"/>
            <a:ext cx="502920" cy="502920"/>
          </a:xfrm>
          <a:prstGeom prst="ellipse">
            <a:avLst/>
          </a:prstGeom>
          <a:solidFill>
            <a:srgbClr val="1E40A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7444130" y="438089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964070" y="4924958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Arial"/>
              </a:rPr>
              <a:t>BRAZIL · 899K</a:t>
            </a:r>
          </a:p>
        </p:txBody>
      </p:sp>
      <p:sp>
        <p:nvSpPr>
          <p:cNvPr id="273" name="Oval 272"/>
          <p:cNvSpPr/>
          <p:nvPr/>
        </p:nvSpPr>
        <p:spPr>
          <a:xfrm>
            <a:off x="10056571" y="3514953"/>
            <a:ext cx="457200" cy="45720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056571" y="3514953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553651" y="4017873"/>
            <a:ext cx="14630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Arial"/>
              </a:rPr>
              <a:t>INDIA · 562K</a:t>
            </a:r>
          </a:p>
        </p:txBody>
      </p:sp>
      <p:graphicFrame>
        <p:nvGraphicFramePr>
          <p:cNvPr id="276" name="Table 275"/>
          <p:cNvGraphicFramePr>
            <a:graphicFrameLocks noGrp="1"/>
          </p:cNvGraphicFramePr>
          <p:nvPr/>
        </p:nvGraphicFramePr>
        <p:xfrm>
          <a:off x="548640" y="5852160"/>
          <a:ext cx="11155679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714"/>
                <a:gridCol w="1923393"/>
                <a:gridCol w="1923393"/>
                <a:gridCol w="1923393"/>
                <a:gridCol w="1923393"/>
                <a:gridCol w="1923393"/>
              </a:tblGrid>
              <a:tr h="198120"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6B768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6B7684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6B7684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6B7684"/>
                          </a:solidFill>
                          <a:latin typeface="맑은 고딕"/>
                        </a:rPr>
                        <a:t>2025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6B7684"/>
                          </a:solidFill>
                          <a:latin typeface="맑은 고딕"/>
                        </a:rPr>
                        <a:t>2026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6B7684"/>
                          </a:solidFill>
                          <a:latin typeface="맑은 고딕"/>
                        </a:rPr>
                        <a:t>2027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9812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191F28"/>
                          </a:solidFill>
                          <a:latin typeface="맑은 고딕"/>
                        </a:rP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219,900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196,820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138,560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6,860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000" b="1">
                          <a:solidFill>
                            <a:srgbClr val="191F28"/>
                          </a:solidFill>
                          <a:latin typeface="맑은 고딕"/>
                        </a:rPr>
                        <a:t>Brazil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137,600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148,800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216,000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216,000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>
                          <a:solidFill>
                            <a:srgbClr val="191F28"/>
                          </a:solidFill>
                          <a:latin typeface="맑은 고딕"/>
                        </a:rPr>
                        <a:t>181,000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7" name="TextBox 276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Brazil만 이기고 있다 — 이유를 복제하라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4-3.  Market Status by Region  ·  BHMC · HMIL · HMB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645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684"/>
                </a:solidFill>
                <a:latin typeface="Arial"/>
              </a:rPr>
              <a:t>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8308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684"/>
                </a:solidFill>
                <a:latin typeface="Arial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830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684"/>
                </a:solidFill>
                <a:latin typeface="Arial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79" y="178308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7684"/>
                </a:solidFill>
                <a:latin typeface="Arial"/>
              </a:rPr>
              <a:t>ROOT CAUSE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67128"/>
            <a:ext cx="11978640" cy="0"/>
          </a:xfrm>
          <a:prstGeom prst="line">
            <a:avLst/>
          </a:prstGeom>
          <a:ln w="12700">
            <a:solidFill>
              <a:srgbClr val="191F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286000"/>
            <a:ext cx="16459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1F28"/>
                </a:solidFill>
                <a:latin typeface="맑은 고딕"/>
              </a:rPr>
              <a:t>Tenneco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1F28"/>
                </a:solidFill>
                <a:latin typeface="맑은 고딕"/>
              </a:rPr>
              <a:t>China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91F28"/>
                </a:solidFill>
                <a:latin typeface="Arial"/>
              </a:rPr>
              <a:t>BHMC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51760"/>
            <a:ext cx="29260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684"/>
                </a:solidFill>
                <a:latin typeface="Arial"/>
              </a:rPr>
              <a:t>(Beijing Hyundai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684"/>
                </a:solidFill>
                <a:latin typeface="Arial"/>
              </a:rPr>
              <a:t>Motor Company)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5146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51460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Sales Decline</a:t>
            </a:r>
          </a:p>
        </p:txBody>
      </p:sp>
      <p:sp>
        <p:nvSpPr>
          <p:cNvPr id="15" name="Oval 14"/>
          <p:cNvSpPr/>
          <p:nvPr/>
        </p:nvSpPr>
        <p:spPr>
          <a:xfrm>
            <a:off x="7086599" y="2478024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237744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ICE → EV 전환 적응 부족</a:t>
            </a:r>
          </a:p>
        </p:txBody>
      </p:sp>
      <p:sp>
        <p:nvSpPr>
          <p:cNvPr id="17" name="Oval 16"/>
          <p:cNvSpPr/>
          <p:nvPr/>
        </p:nvSpPr>
        <p:spPr>
          <a:xfrm>
            <a:off x="7086599" y="2798064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269748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HMC China 전체 매출 축소 → 신규 사업 정체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611880"/>
            <a:ext cx="11978640" cy="0"/>
          </a:xfrm>
          <a:prstGeom prst="line">
            <a:avLst/>
          </a:prstGeom>
          <a:ln w="9525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703320"/>
            <a:ext cx="16459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1F28"/>
                </a:solidFill>
                <a:latin typeface="맑은 고딕"/>
              </a:rPr>
              <a:t>Tenneco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1F28"/>
                </a:solidFill>
                <a:latin typeface="맑은 고딕"/>
              </a:rPr>
              <a:t>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70332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91F28"/>
                </a:solidFill>
                <a:latin typeface="Arial"/>
              </a:rPr>
              <a:t>HMIL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069080"/>
            <a:ext cx="29260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684"/>
                </a:solidFill>
                <a:latin typeface="Arial"/>
              </a:rPr>
              <a:t>(Hyundai Motor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684"/>
                </a:solidFill>
                <a:latin typeface="Arial"/>
              </a:rPr>
              <a:t>India Limited)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393192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93192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Sales Decline</a:t>
            </a:r>
          </a:p>
        </p:txBody>
      </p:sp>
      <p:sp>
        <p:nvSpPr>
          <p:cNvPr id="25" name="Oval 24"/>
          <p:cNvSpPr/>
          <p:nvPr/>
        </p:nvSpPr>
        <p:spPr>
          <a:xfrm>
            <a:off x="7086599" y="3895344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9" y="379476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Post-Pandemic Order Gap</a:t>
            </a:r>
          </a:p>
        </p:txBody>
      </p:sp>
      <p:sp>
        <p:nvSpPr>
          <p:cNvPr id="27" name="Oval 26"/>
          <p:cNvSpPr/>
          <p:nvPr/>
        </p:nvSpPr>
        <p:spPr>
          <a:xfrm>
            <a:off x="7086599" y="4215384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79" y="411480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CA/MRS 미흡 · After-sales 지원 부족</a:t>
            </a:r>
          </a:p>
        </p:txBody>
      </p:sp>
      <p:sp>
        <p:nvSpPr>
          <p:cNvPr id="29" name="Oval 28"/>
          <p:cNvSpPr/>
          <p:nvPr/>
        </p:nvSpPr>
        <p:spPr>
          <a:xfrm>
            <a:off x="7086599" y="4535424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79" y="443484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신규 차종 수주 실패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029200"/>
            <a:ext cx="11978640" cy="0"/>
          </a:xfrm>
          <a:prstGeom prst="line">
            <a:avLst/>
          </a:prstGeom>
          <a:ln w="9525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" y="5029200"/>
            <a:ext cx="11978640" cy="141732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20640"/>
            <a:ext cx="16459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1F28"/>
                </a:solidFill>
                <a:latin typeface="맑은 고딕"/>
              </a:rPr>
              <a:t>Tenneco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91F28"/>
                </a:solidFill>
                <a:latin typeface="맑은 고딕"/>
              </a:rPr>
              <a:t>Brazil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120640"/>
            <a:ext cx="2926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91F28"/>
                </a:solidFill>
                <a:latin typeface="Arial"/>
              </a:rPr>
              <a:t>HMB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486400"/>
            <a:ext cx="29260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684"/>
                </a:solidFill>
                <a:latin typeface="Arial"/>
              </a:rPr>
              <a:t>(Hyundai Motor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684"/>
                </a:solidFill>
                <a:latin typeface="Arial"/>
              </a:rPr>
              <a:t>Brazil)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534924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34924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Market Share ↑</a:t>
            </a:r>
          </a:p>
        </p:txBody>
      </p:sp>
      <p:sp>
        <p:nvSpPr>
          <p:cNvPr id="38" name="Oval 37"/>
          <p:cNvSpPr/>
          <p:nvPr/>
        </p:nvSpPr>
        <p:spPr>
          <a:xfrm>
            <a:off x="7086599" y="531266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79" y="521208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HMC Brazil 생산량 증가 + 구매팀 전략적 소싱</a:t>
            </a:r>
          </a:p>
        </p:txBody>
      </p:sp>
      <p:sp>
        <p:nvSpPr>
          <p:cNvPr id="40" name="Oval 39"/>
          <p:cNvSpPr/>
          <p:nvPr/>
        </p:nvSpPr>
        <p:spPr>
          <a:xfrm>
            <a:off x="7086599" y="563270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79" y="5532120"/>
            <a:ext cx="52120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Mando 현지 생산 부재 → Tenneco 전략적 우위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3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1264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F2E61"/>
                </a:solidFill>
                <a:latin typeface="맑은 고딕"/>
              </a:rPr>
              <a:t>💡  중국·인도에서 잃은 만큼, 브라질의 성공 패턴(구매팀 전략 소싱 + 현지 공급 우위)을 수평 확산해야 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4개의 경쟁사, 각기 다른 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5.  Tenneco Competitor  ·  ZF · Mando · Bilstein · S&amp;T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COMPETITOR 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  <a:latin typeface="Arial"/>
              </a:rPr>
              <a:t>Mando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21284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21284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B7684"/>
                </a:solidFill>
                <a:latin typeface="Arial"/>
              </a:rPr>
              <a:t>Korea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맑은 고딕"/>
              </a:rPr>
              <a:t>Volume Dominant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3317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65% 점유 · 국내 생산·R&amp;D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즉시 대응력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4884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  <a:latin typeface="Arial"/>
              </a:rPr>
              <a:t>ZF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21284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21284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B7684"/>
                </a:solidFill>
                <a:latin typeface="Arial"/>
              </a:rPr>
              <a:t>Germany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4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맑은 고딕"/>
              </a:rPr>
              <a:t>Premium · Air Susp.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71800"/>
            <a:ext cx="23317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30% · 고성능 라인 인지도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HMC 프리미엄 전략 합치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  <a:latin typeface="Arial"/>
              </a:rPr>
              <a:t>Bilstein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427024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427024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B7684"/>
                </a:solidFill>
                <a:latin typeface="Arial"/>
              </a:rPr>
              <a:t>Germany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맑은 고딕"/>
              </a:rPr>
              <a:t>GV90 Flagship EV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23317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High-end Air Shock+ECS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소량·프리미엄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069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20624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  <a:latin typeface="Arial"/>
              </a:rPr>
              <a:t>S&amp;T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427024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4270248"/>
            <a:ext cx="7315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B7684"/>
                </a:solidFill>
                <a:latin typeface="Arial"/>
              </a:rPr>
              <a:t>Korea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6344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40AF"/>
                </a:solidFill>
                <a:latin typeface="맑은 고딕"/>
              </a:rPr>
              <a:t>Compact 진입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029200"/>
            <a:ext cx="23317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국내 2nd Tier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가격 경쟁력 보유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737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NORTH AMERICA PLANTS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01168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64524" y="2825496"/>
            <a:ext cx="109728" cy="109728"/>
          </a:xfrm>
          <a:prstGeom prst="ellipse">
            <a:avLst/>
          </a:prstGeom>
          <a:solidFill>
            <a:srgbClr val="0F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6428" y="297180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Detroit, MI · ZF</a:t>
            </a:r>
          </a:p>
        </p:txBody>
      </p:sp>
      <p:sp>
        <p:nvSpPr>
          <p:cNvPr id="34" name="Oval 33"/>
          <p:cNvSpPr/>
          <p:nvPr/>
        </p:nvSpPr>
        <p:spPr>
          <a:xfrm>
            <a:off x="9322308" y="3557016"/>
            <a:ext cx="109728" cy="109728"/>
          </a:xfrm>
          <a:prstGeom prst="ellipse">
            <a:avLst/>
          </a:prstGeom>
          <a:solidFill>
            <a:srgbClr val="0F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4212" y="370332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Gainesville, GA · ZF</a:t>
            </a:r>
          </a:p>
        </p:txBody>
      </p:sp>
      <p:sp>
        <p:nvSpPr>
          <p:cNvPr id="36" name="Oval 35"/>
          <p:cNvSpPr/>
          <p:nvPr/>
        </p:nvSpPr>
        <p:spPr>
          <a:xfrm>
            <a:off x="9043416" y="3671316"/>
            <a:ext cx="109728" cy="109728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81762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Opelika, AL · Mando</a:t>
            </a:r>
          </a:p>
        </p:txBody>
      </p:sp>
      <p:sp>
        <p:nvSpPr>
          <p:cNvPr id="38" name="Oval 37"/>
          <p:cNvSpPr/>
          <p:nvPr/>
        </p:nvSpPr>
        <p:spPr>
          <a:xfrm>
            <a:off x="8206739" y="3899916"/>
            <a:ext cx="109728" cy="109728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8643" y="404622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Monterrey, MX · Mando</a:t>
            </a:r>
          </a:p>
        </p:txBody>
      </p:sp>
      <p:sp>
        <p:nvSpPr>
          <p:cNvPr id="40" name="Oval 39"/>
          <p:cNvSpPr/>
          <p:nvPr/>
        </p:nvSpPr>
        <p:spPr>
          <a:xfrm>
            <a:off x="7927848" y="3899916"/>
            <a:ext cx="109728" cy="109728"/>
          </a:xfrm>
          <a:prstGeom prst="ellipse">
            <a:avLst/>
          </a:prstGeom>
          <a:solidFill>
            <a:srgbClr val="0F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9752" y="404622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Arteaga, MX · ZF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20624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SOUTH AMERICA PLANTS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480560"/>
            <a:ext cx="5577840" cy="18288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22308" y="4974336"/>
            <a:ext cx="109728" cy="109728"/>
          </a:xfrm>
          <a:prstGeom prst="ellipse">
            <a:avLst/>
          </a:prstGeom>
          <a:solidFill>
            <a:srgbClr val="0F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54212" y="512064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São Bernardo · ZF</a:t>
            </a:r>
          </a:p>
        </p:txBody>
      </p:sp>
      <p:sp>
        <p:nvSpPr>
          <p:cNvPr id="46" name="Oval 45"/>
          <p:cNvSpPr/>
          <p:nvPr/>
        </p:nvSpPr>
        <p:spPr>
          <a:xfrm>
            <a:off x="9154972" y="5431536"/>
            <a:ext cx="109728" cy="109728"/>
          </a:xfrm>
          <a:prstGeom prst="ellipse">
            <a:avLst/>
          </a:prstGeom>
          <a:solidFill>
            <a:srgbClr val="0F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6876" y="557784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Sorocaba · ZF</a:t>
            </a:r>
          </a:p>
        </p:txBody>
      </p:sp>
      <p:sp>
        <p:nvSpPr>
          <p:cNvPr id="48" name="Oval 47"/>
          <p:cNvSpPr/>
          <p:nvPr/>
        </p:nvSpPr>
        <p:spPr>
          <a:xfrm>
            <a:off x="8931859" y="5248656"/>
            <a:ext cx="109728" cy="109728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3763" y="539496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Limeira · Mando</a:t>
            </a:r>
          </a:p>
        </p:txBody>
      </p:sp>
      <p:sp>
        <p:nvSpPr>
          <p:cNvPr id="50" name="Oval 49"/>
          <p:cNvSpPr/>
          <p:nvPr/>
        </p:nvSpPr>
        <p:spPr>
          <a:xfrm>
            <a:off x="7927848" y="5852160"/>
            <a:ext cx="109728" cy="109728"/>
          </a:xfrm>
          <a:prstGeom prst="ellipse">
            <a:avLst/>
          </a:prstGeom>
          <a:solidFill>
            <a:srgbClr val="0F2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59752" y="5998464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191F28"/>
                </a:solidFill>
                <a:latin typeface="Arial"/>
              </a:rPr>
              <a:t>San Francisco, AR · ZF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그들이 이기는 것은 기술이 아닌 '속도와 근접성'이다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5-1.  Tenneco Competitor의 특수성  ·  Market Status +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MARKET STATUS &amp; BUSINESS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155680" cy="41148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251192" cy="4114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99832" y="2011680"/>
            <a:ext cx="3346704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46536" y="2011680"/>
            <a:ext cx="557784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29968"/>
            <a:ext cx="7251192" cy="3749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Mando  ·  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029968"/>
            <a:ext cx="3346704" cy="3749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ZF  · 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2029968"/>
            <a:ext cx="548640" cy="3749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맑은 고딕"/>
              </a:rPr>
              <a:t>최근 진입:  Bilstein (GV90 Flagship EV)  ·  S&amp;T (Compact Car)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017520"/>
            <a:ext cx="11155680" cy="0"/>
          </a:xfrm>
          <a:prstGeom prst="line">
            <a:avLst/>
          </a:prstGeom>
          <a:ln w="9525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20040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COMPETITORS' KEY SUCCESS FACTORS  ·  GAP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3383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1E40AF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91F28"/>
                </a:solidFill>
                <a:latin typeface="맑은 고딕"/>
              </a:rPr>
              <a:t>Real-time Response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91F28"/>
                </a:solidFill>
                <a:latin typeface="맑은 고딕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Arial"/>
              </a:rPr>
              <a:t>COMPETITORS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경쟁사는 한국 내 R&amp;D + Plant 운영.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Hyundai 엔지니어 요청에 즉시 대응 가능.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Arial"/>
              </a:rPr>
              <a:t>TENNECO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Tenneco: 국내 생산 허브 부재 + 지원 인력 제한.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→ 물리적 대응 속도 한계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52044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657600"/>
            <a:ext cx="3383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1E40AF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6052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91F28"/>
                </a:solidFill>
                <a:latin typeface="맑은 고딕"/>
              </a:rPr>
              <a:t>Localized Business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91F28"/>
                </a:solidFill>
                <a:latin typeface="맑은 고딕"/>
              </a:rPr>
              <a:t>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846320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Arial"/>
              </a:rPr>
              <a:t>COMPETITORS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02920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경쟁사는 한국인 전담팀 운영.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Hyundai 구매·개발 프로세스에 완전 동기화.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623560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Arial"/>
              </a:rPr>
              <a:t>TENNECO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806440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Tenneco: 해외 Plant/R&amp;D 조율 → 커뮤니케이션 지연 발생 (약점)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520440"/>
            <a:ext cx="3657600" cy="283464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657600"/>
            <a:ext cx="3383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1E40AF"/>
                </a:solidFill>
                <a:latin typeface="Arial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16052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91F28"/>
                </a:solidFill>
                <a:latin typeface="맑은 고딕"/>
              </a:rPr>
              <a:t>Extreme Quality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91F28"/>
                </a:solidFill>
                <a:latin typeface="맑은 고딕"/>
              </a:rPr>
              <a:t>Standards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46320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Arial"/>
              </a:rPr>
              <a:t>COMPETITORS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29200"/>
            <a:ext cx="3383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Hyundai: 반도체 생산급 Cleanroom (KYB 기준) 요구.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Mando·ZF는 국내 전용 라인으로 충족.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623560"/>
            <a:ext cx="3383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Arial"/>
              </a:rPr>
              <a:t>TENNECO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806440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684"/>
                </a:solidFill>
                <a:latin typeface="맑은 고딕"/>
              </a:rPr>
              <a:t>Tenneco: 국내 전용 라인 부재 → 충족 전략 필요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한눈에 본 4사 경쟁 포지션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5-2.  Competitor Matrix  ·  Tenneco만 Plant · R&amp;D 국내 부재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15567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908"/>
                <a:gridCol w="1160190"/>
                <a:gridCol w="1160190"/>
                <a:gridCol w="1160190"/>
                <a:gridCol w="3123590"/>
                <a:gridCol w="2766608"/>
              </a:tblGrid>
              <a:tr h="768096"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Supplier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Office
(KR)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Plant
(KR)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R&amp;D
(KR)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Strength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6B7684"/>
                          </a:solidFill>
                          <a:latin typeface="맑은 고딕"/>
                        </a:rPr>
                        <a:t>Weakness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빠른 대응 · 가격 경쟁력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2-valve 등 신기술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ZF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고성능 인지도 · 빠른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가격 高 · Air+Shock 조합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Bilstein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DC2626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고성능 프리미엄 인지도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가격 高 · 2-valve MacPherson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Tenneco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1E40AF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DC2626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600" b="1">
                          <a:solidFill>
                            <a:srgbClr val="DC2626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HMC 평가 — 가격 · 성능 합리적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HMC 고성능 개발 경험 부재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852160"/>
            <a:ext cx="11155680" cy="640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996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2E61"/>
                </a:solidFill>
                <a:latin typeface="맑은 고딕"/>
              </a:rPr>
              <a:t>Plant · R&amp;D 국내 부재를 극복하는 유일한 길은 '기술 차별성 + 가격 합리성 + 유럽 트랙 레코드'.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기술은 있다. 가격과 공장을 맞추면 이긴다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6.  현대 공략 방법  ·  N.America Opportunity + S.America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840480" cy="475488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108960" cy="914400"/>
          </a:xfrm>
          <a:prstGeom prst="roundRect">
            <a:avLst>
              <a:gd name="adj" fmla="val 1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8B95A1"/>
                </a:solidFill>
                <a:latin typeface="Arial"/>
              </a:rPr>
              <a:t>CANADA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 w="19050">
            <a:solidFill>
              <a:srgbClr val="0F2E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7432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UNITED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977640"/>
            <a:ext cx="2011680" cy="59436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4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6B7684"/>
                </a:solidFill>
                <a:latin typeface="Arial"/>
              </a:rPr>
              <a:t>MEXICO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0" y="4233672"/>
            <a:ext cx="164592" cy="164592"/>
          </a:xfrm>
          <a:prstGeom prst="ellipse">
            <a:avLst/>
          </a:prstGeom>
          <a:solidFill>
            <a:srgbClr val="FACC15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389120"/>
            <a:ext cx="20116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0F2E61"/>
                </a:solidFill>
                <a:latin typeface="Arial"/>
              </a:rPr>
              <a:t>Celaya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40280" y="4617720"/>
            <a:ext cx="0" cy="502920"/>
          </a:xfrm>
          <a:prstGeom prst="line">
            <a:avLst/>
          </a:prstGeom>
          <a:ln w="1270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45920" y="516636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 w="19050">
            <a:solidFill>
              <a:srgbClr val="0F2E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166360"/>
            <a:ext cx="21945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BRAZIL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64008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640080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8B95A1"/>
                </a:solidFill>
                <a:latin typeface="Arial"/>
              </a:rPr>
              <a:t>ARGENTINA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40AF"/>
                </a:solidFill>
                <a:latin typeface="맑은 고딕"/>
              </a:rPr>
              <a:t>▍ 진한 파랑 = 공략 우선 지역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737360"/>
            <a:ext cx="7132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901952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OPPORTUNITIES  ·  N.AMERICA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121408"/>
            <a:ext cx="6675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  <a:latin typeface="맑은 고딕"/>
              </a:rPr>
              <a:t>기술 우위는 이미 입증됐다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65176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맑은 고딕"/>
              </a:rPr>
              <a:t>Technological Advantage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26080"/>
            <a:ext cx="6675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HMC 엔지니어링팀이 Tenneco 밸브 기술(Conventional &amp; ECS)의 우월성 인정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38328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맑은 고딕"/>
              </a:rPr>
              <a:t>Performance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657600"/>
            <a:ext cx="6675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91F28"/>
                </a:solidFill>
                <a:latin typeface="맑은 고딕"/>
              </a:rPr>
              <a:t>CVSA2 평가에서 ZF · Mando 대비 성능 우위 확인 (High-Performance Vehicle Team)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4206240"/>
            <a:ext cx="7132320" cy="23317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4206240"/>
            <a:ext cx="73152" cy="2331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4370832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RESPONSE STRATEGY  ·  S.AMERICA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590288"/>
            <a:ext cx="6675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2E61"/>
                </a:solidFill>
                <a:latin typeface="맑은 고딕"/>
              </a:rPr>
              <a:t>가격과 공장을 현지화한다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07492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7684"/>
                </a:solidFill>
                <a:latin typeface="맑은 고딕"/>
              </a:rPr>
              <a:t>Hyundai New CEO — José Muñoz  ·  Cost Reduction Initiative 대응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4864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맑은 고딕"/>
              </a:rPr>
              <a:t>Strategic Pricing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76072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91F28"/>
                </a:solidFill>
                <a:latin typeface="맑은 고딕"/>
              </a:rPr>
              <a:t>Mando와 동등한 단가 경쟁력 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48640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맑은 고딕"/>
              </a:rPr>
              <a:t>N.America Manufacturing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6072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91F28"/>
                </a:solidFill>
                <a:latin typeface="맑은 고딕"/>
              </a:rPr>
              <a:t>Celaya(Mexico) Plant를 KYB 수준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91F28"/>
                </a:solidFill>
                <a:latin typeface="맑은 고딕"/>
              </a:rPr>
              <a:t>품질·공정 관리로 업그레이드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Ioniq 6 N이 우리의 증명 무대다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6-1.  ECS Opportunity  ·  CVSA2 Program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155680" cy="9601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013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TARGET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F2E61"/>
                </a:solidFill>
                <a:latin typeface="Arial"/>
              </a:rPr>
              <a:t>Ioniq 6 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993392"/>
            <a:ext cx="24231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002536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1E40AF"/>
                </a:solidFill>
                <a:latin typeface="Arial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Arial"/>
              </a:rPr>
              <a:t>ZF · one valve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1993392"/>
            <a:ext cx="24231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2002536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1E40AF"/>
                </a:solidFill>
                <a:latin typeface="Arial"/>
              </a:rPr>
              <a:t>Test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19456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Arial"/>
              </a:rPr>
              <a:t>Mando · two valve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993392"/>
            <a:ext cx="2423160" cy="502920"/>
          </a:xfrm>
          <a:prstGeom prst="roundRect">
            <a:avLst>
              <a:gd name="adj" fmla="val 20000"/>
            </a:avLst>
          </a:prstGeom>
          <a:solidFill>
            <a:srgbClr val="1E40AF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2002536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FACC15"/>
                </a:solidFill>
                <a:latin typeface="Arial"/>
              </a:rPr>
              <a:t>Test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219456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Tenneco · CVSA2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SCHEDULE  ·  DEMO CAR TIMELINE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" y="3794760"/>
            <a:ext cx="10058400" cy="0"/>
          </a:xfrm>
          <a:prstGeom prst="line">
            <a:avLst/>
          </a:prstGeom>
          <a:ln w="2540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05840" y="3703320"/>
            <a:ext cx="182880" cy="1828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9144" y="320040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F2E61"/>
                </a:solidFill>
                <a:latin typeface="Arial"/>
              </a:rPr>
              <a:t>CW42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9144" y="3456432"/>
            <a:ext cx="22128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B7684"/>
                </a:solidFill>
                <a:latin typeface="Arial"/>
              </a:rPr>
              <a:t>Oct 13–19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9144" y="397764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맑은 고딕"/>
              </a:rPr>
              <a:t>샘플 선적</a:t>
            </a:r>
          </a:p>
        </p:txBody>
      </p:sp>
      <p:sp>
        <p:nvSpPr>
          <p:cNvPr id="23" name="Oval 22"/>
          <p:cNvSpPr/>
          <p:nvPr/>
        </p:nvSpPr>
        <p:spPr>
          <a:xfrm>
            <a:off x="3493008" y="3703320"/>
            <a:ext cx="182880" cy="1828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8024" y="320040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F2E61"/>
                </a:solidFill>
                <a:latin typeface="Arial"/>
              </a:rPr>
              <a:t>CW46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8024" y="3456432"/>
            <a:ext cx="22128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B7684"/>
                </a:solidFill>
                <a:latin typeface="Arial"/>
              </a:rPr>
              <a:t>Nov 11–16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8024" y="397764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맑은 고딕"/>
              </a:rPr>
              <a:t>전장 설치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0" y="3666744"/>
            <a:ext cx="256032" cy="256032"/>
          </a:xfrm>
          <a:prstGeom prst="ellipse">
            <a:avLst/>
          </a:prstGeom>
          <a:solidFill>
            <a:srgbClr val="1E40A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192" y="320040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F2E61"/>
                </a:solidFill>
                <a:latin typeface="Arial"/>
              </a:rPr>
              <a:t>CW47–49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3456432"/>
            <a:ext cx="22128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B7684"/>
                </a:solidFill>
                <a:latin typeface="Arial"/>
              </a:rPr>
              <a:t>Nov 17–Dec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397764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맑은 고딕"/>
              </a:rPr>
              <a:t>HW/SW 튜닝 #1</a:t>
            </a:r>
          </a:p>
        </p:txBody>
      </p:sp>
      <p:sp>
        <p:nvSpPr>
          <p:cNvPr id="31" name="Oval 30"/>
          <p:cNvSpPr/>
          <p:nvPr/>
        </p:nvSpPr>
        <p:spPr>
          <a:xfrm>
            <a:off x="8467344" y="3703320"/>
            <a:ext cx="182880" cy="1828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320040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F2E61"/>
                </a:solidFill>
                <a:latin typeface="Arial"/>
              </a:rPr>
              <a:t>CW16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456432"/>
            <a:ext cx="22128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B7684"/>
                </a:solidFill>
                <a:latin typeface="Arial"/>
              </a:rPr>
              <a:t>2026 Apr 13–17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97764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맑은 고딕"/>
              </a:rPr>
              <a:t>HW/SW 튜닝 #2</a:t>
            </a:r>
          </a:p>
        </p:txBody>
      </p:sp>
      <p:sp>
        <p:nvSpPr>
          <p:cNvPr id="35" name="Oval 34"/>
          <p:cNvSpPr/>
          <p:nvPr/>
        </p:nvSpPr>
        <p:spPr>
          <a:xfrm>
            <a:off x="10917936" y="3666744"/>
            <a:ext cx="256032" cy="256032"/>
          </a:xfrm>
          <a:prstGeom prst="ellipse">
            <a:avLst/>
          </a:prstGeom>
          <a:solidFill>
            <a:srgbClr val="1E40A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9528" y="320040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F2E61"/>
                </a:solidFill>
                <a:latin typeface="Arial"/>
              </a:rPr>
              <a:t>Jun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9528" y="3456432"/>
            <a:ext cx="221284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B7684"/>
                </a:solidFill>
                <a:latin typeface="Arial"/>
              </a:rPr>
              <a:t>End of Q2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3977640"/>
            <a:ext cx="22128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91F28"/>
                </a:solidFill>
                <a:latin typeface="맑은 고딕"/>
              </a:rPr>
              <a:t>개선안 수립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66344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Arial"/>
              </a:rPr>
              <a:t>TENNECO STRENGTH  ·  HMC 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937760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Arial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919472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맑은 고딕"/>
              </a:rPr>
              <a:t>2-valve MacPherson + Double Wishbone 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166360"/>
            <a:ext cx="5074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684"/>
                </a:solidFill>
                <a:latin typeface="맑은 고딕"/>
              </a:rPr>
              <a:t>차세대 제품 필수 조건 충족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937760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Arial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919472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맑은 고딕"/>
              </a:rPr>
              <a:t>가격 경쟁력 우위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166360"/>
            <a:ext cx="5074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684"/>
                </a:solidFill>
                <a:latin typeface="맑은 고딕"/>
              </a:rPr>
              <a:t>HMC 내부 평가 — 경쟁사 대비 합리적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46811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Arial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449824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맑은 고딕"/>
              </a:rPr>
              <a:t>유럽 현지 시승 긍정 피드백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696712"/>
            <a:ext cx="5074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684"/>
                </a:solidFill>
                <a:latin typeface="맑은 고딕"/>
              </a:rPr>
              <a:t>HMC 엔지니어 긍정 반응 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46811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Arial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449824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맑은 고딕"/>
              </a:rPr>
              <a:t>Mando 1-valve 성능 한계 인지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696712"/>
            <a:ext cx="5074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684"/>
                </a:solidFill>
                <a:latin typeface="맑은 고딕"/>
              </a:rPr>
              <a:t>HMC R&amp;D 내부에서 이미 인지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998464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Arial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980176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맑은 고딕"/>
              </a:rPr>
              <a:t>Demo Car = RFQ 검증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6227064"/>
            <a:ext cx="5074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684"/>
                </a:solidFill>
                <a:latin typeface="맑은 고딕"/>
              </a:rPr>
              <a:t>ZF 동등 성능 → Tenneco 우위 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5998464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Arial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980176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91F28"/>
                </a:solidFill>
                <a:latin typeface="맑은 고딕"/>
              </a:rPr>
              <a:t>N Brand → Genesis 수직 확산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6227064"/>
            <a:ext cx="5074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684"/>
                </a:solidFill>
                <a:latin typeface="맑은 고딕"/>
              </a:rPr>
              <a:t>N Brand 검증 제품은 Genesis로 이전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북미 시장 고급옵션 — ECS 공급안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6-2.  LX3 / LQ2a 계열  ·  Palisade · Santa Fe  ·  현재 &amp; 향후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645920" cy="274320"/>
          </a:xfrm>
          <a:prstGeom prst="roundRect">
            <a:avLst>
              <a:gd name="adj" fmla="val 3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ECS 적용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691640"/>
            <a:ext cx="1645920" cy="274320"/>
          </a:xfrm>
          <a:prstGeom prst="roundRect">
            <a:avLst>
              <a:gd name="adj" fmla="val 3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691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91F28"/>
                </a:solidFill>
                <a:latin typeface="맑은 고딕"/>
              </a:rPr>
              <a:t>CONV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91640"/>
            <a:ext cx="1645920" cy="274320"/>
          </a:xfrm>
          <a:prstGeom prst="roundRect">
            <a:avLst>
              <a:gd name="adj" fmla="val 3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91F28"/>
                </a:solidFill>
                <a:latin typeface="맑은 고딕"/>
              </a:rPr>
              <a:t>Tenneco 진입 기회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148840"/>
          <a:ext cx="1115567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/>
                <a:gridCol w="1828799"/>
                <a:gridCol w="2103119"/>
                <a:gridCol w="2743199"/>
                <a:gridCol w="3108959"/>
              </a:tblGrid>
              <a:tr h="518160"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차종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해외명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북미 구분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현재 ECS 공급사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PE 이후 ECS 계획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LX3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Palisade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SELF / XRT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SFD3 (SELF만)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유지 예상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LX3 PE</a:t>
                      </a:r>
                    </a:p>
                  </a:txBody>
                  <a:tcPr>
                    <a:solidFill>
                      <a:srgbClr val="FACC15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Palisade PE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SELF · ECS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– (신규)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확대 · Tenneco 진입 기회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LX3a HEV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Palisade HEV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SFD3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LQ2a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Santa 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XPRO 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SFD3 (용량증대)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LQ2a PE</a:t>
                      </a:r>
                    </a:p>
                  </a:txBody>
                  <a:tcPr>
                    <a:solidFill>
                      <a:srgbClr val="FACC15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Santa Fe PE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CONV + ECS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– (신규)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확대 · Tenneco 진입 기회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440680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440680"/>
            <a:ext cx="73152" cy="10058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E40AF"/>
                </a:solidFill>
                <a:latin typeface="맑은 고딕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7784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2E61"/>
                </a:solidFill>
                <a:latin typeface="맑은 고딕"/>
              </a:rPr>
              <a:t>LX3 PE · Palisade 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879592"/>
            <a:ext cx="47548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ECS 신규 옵션 확대 구간. Mando 단독 공급 전환 전 Tenneco 선제 제안 필요.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440680"/>
            <a:ext cx="5486400" cy="1005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5440680"/>
            <a:ext cx="73152" cy="10058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53212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E40AF"/>
                </a:solidFill>
                <a:latin typeface="맑은 고딕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57784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2E61"/>
                </a:solidFill>
                <a:latin typeface="맑은 고딕"/>
              </a:rPr>
              <a:t>LQ2a PE · Santa Fe 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879592"/>
            <a:ext cx="47548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CONV → ECS 확대 라인. 북미 전용 사양 — Tenneco CVSA2 제안 최적 타이밍.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91F28"/>
                </a:solidFill>
                <a:latin typeface="맑은 고딕"/>
              </a:rPr>
              <a:t>북미 시장 고급옵션 — ECS 공급안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7684"/>
                </a:solidFill>
                <a:latin typeface="맑은 고딕"/>
              </a:rPr>
              <a:t>6-3.  MV / ME / MVa / MEa / MV GT 계열  ·  Tucson · Santa Cruz  ·  현재 &amp; 향후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743200"/>
                <a:gridCol w="3200400"/>
              </a:tblGrid>
              <a:tr h="533400"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차종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해외명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북미 구분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현재 ECS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PE 이후 ECS 계획</a:t>
                      </a:r>
                    </a:p>
                  </a:txBody>
                  <a:tcPr>
                    <a:solidFill>
                      <a:srgbClr val="0F2E61"/>
                    </a:solidFill>
                  </a:tcPr>
                </a:tc>
              </a:tr>
              <a:tr h="53340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MV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Tucson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옵션 추가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Santa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CONV / 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옵션 추가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MVa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Tucson HEV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CONV / 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옵션 추가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191F28"/>
                          </a:solidFill>
                          <a:latin typeface="맑은 고딕"/>
                        </a:rPr>
                        <a:t>MEa</a:t>
                      </a:r>
                    </a:p>
                  </a:txBody>
                  <a:tcPr>
                    <a:solidFill>
                      <a:srgbClr val="FACC15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Santa Cruz HEV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SELF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SFD3 (용량증대)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확대 · Tenneco 진입 기회</a:t>
                      </a:r>
                    </a:p>
                  </a:txBody>
                  <a:tcPr>
                    <a:solidFill>
                      <a:srgbClr val="FFF8DC"/>
                    </a:solidFill>
                  </a:tcPr>
                </a:tc>
              </a:tr>
              <a:tr h="533400"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MV GT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Tucson GT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100%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Mando 1 SOL SDC50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lIns="109728" rIns="109728" tIns="73152" bIns="73152" wrap="square" anchor="ctr"/>
                    <a:lstStyle/>
                    <a:p>
                      <a:pPr algn="l"/>
                      <a:r>
                        <a:rPr sz="1100">
                          <a:solidFill>
                            <a:srgbClr val="191F28"/>
                          </a:solidFill>
                          <a:latin typeface="맑은 고딕"/>
                        </a:rPr>
                        <a:t>ECS 확대 · 북미 전용 금맥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12080"/>
            <a:ext cx="6858000" cy="118872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ACC15"/>
                </a:solidFill>
                <a:latin typeface="Arial"/>
              </a:rPr>
              <a:t>TENNECO ATTACK POINT  ·  NORTH AMERICA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MV GT = 북미 전용 100% ECS 라인업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53328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ACC15"/>
                </a:solidFill>
                <a:latin typeface="맑은 고딕"/>
              </a:rPr>
              <a:t>현재 Mando 독점 · PE 이후 ECS 확대 예정 → CVSA2로 전환 제안 최적 지점.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5212080"/>
            <a:ext cx="4114800" cy="11887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539496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E61"/>
                </a:solidFill>
                <a:latin typeface="맑은 고딕"/>
              </a:rPr>
              <a:t>MEa (Santa Cruz HEV)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66928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2E61"/>
                </a:solidFill>
                <a:latin typeface="맑은 고딕"/>
              </a:rPr>
              <a:t>Mando 용량증대 사양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989320"/>
            <a:ext cx="374903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91F28"/>
                </a:solidFill>
                <a:latin typeface="맑은 고딕"/>
              </a:rPr>
              <a:t>PE 이후 ECS 확대 구간 — Tenneco 2nd-source 진입 가능성.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1E40AF"/>
                </a:solidFill>
                <a:latin typeface="Arial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0" i="0">
                <a:solidFill>
                  <a:srgbClr val="6B7684"/>
                </a:solidFill>
                <a:latin typeface="맑은 고딕"/>
              </a:rPr>
              <a:t>궁금한 점을 나눠주세요.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1527" y="5303520"/>
            <a:ext cx="548640" cy="3657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B95A1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Arial"/>
              </a:rPr>
              <a:t>TENNECO × HYUNDAI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0" b="1" i="0">
                <a:solidFill>
                  <a:srgbClr val="191F28"/>
                </a:solidFill>
                <a:latin typeface="Arial"/>
              </a:rPr>
              <a:t>Thank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31920"/>
            <a:ext cx="457200" cy="45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B7684"/>
                </a:solidFill>
                <a:latin typeface="Arial"/>
              </a:rPr>
              <a:t>Tenneco × Hyundai Motor Group  ·  Next-Gen Chassis Partnership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0F2E61"/>
                </a:solidFill>
                <a:latin typeface="맑은 고딕"/>
              </a:rPr>
              <a:t>감사합니다.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8B95A1"/>
                </a:solidFill>
                <a:latin typeface="Arial"/>
              </a:rPr>
              <a:t>US HQ Internal Seminar  ·  2026.04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B95A1"/>
                </a:solidFill>
                <a:latin typeface="맑은 고딕"/>
              </a:rPr>
              <a:t>General Business – Tenneco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